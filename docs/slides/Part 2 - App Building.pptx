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970" cy="6858000"/>
  <p:notesSz cx="6858000" cy="1219197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longest part. Three prompts, each ending with something visible. If time runs short, the reminder firing with the demo flag is the one moment to keep.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a new folder: the Part 1 folder stays exactly as it was tagged, so it can be shown again later. The build repo gets its own project memory file that points back at the frozen design and at the canvas.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thing to stress: nobody re-explains the design. The project memory file and the architecture doc are in the repo, and the session reads them on its own. If someone asks how Claude knew about the time zone rule or the colour tokens, that is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third prompt, open the app with the demo flag in the address so the reminder gap drops to a minute. Allow notifications in the demo browser beforehand and turn off focus mode, or the notification will be swallowed and only the in-page banner will show. The banner is still a fine fallback to point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Parallel sessions are the showpiece if the room is technical: split the window, start the second session with its own brief, and let both run while you talk. If the room is not technical, skip it and keep one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split is what makes the two-session trick work and what makes Part 3 cheap. The project memory file states it as a rule, so a session that tried to put a rule in a screen would be going against its own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match wins; that ordering came from the Part 1 flowchart and is written in the architecture doc. The first test count in the dry run was 36, all green, before any screen existed.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card maps to a board on the Part 1 canvas. If someone asks how close the build is to the mock-ups, put the canvas and the running app side by side; the match is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linger on if the room is sceptical. The point is not that bugs happened; it is that the session found them by using the product the way a person would, before anyone else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dry run ended Part 2 at 47 tests. Scroll the “changes since Part 1” list if there is time: it includes things like an early coffee still counting towards the daily limit, which is the kind of decision that only surfaces while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F0C"/>
        </a:solidFill>
      </p:bgPr>
    </p:bg>
    <p:spTree>
      <p:nvGrpSpPr>
        <p:cNvPr id="1" name=""/>
        <p:cNvGrpSpPr/>
        <p:nvPr/>
      </p:nvGrpSpPr>
      <p:grpSpPr>
        <a:xfrm>
          <a:off x="0" y="0"/>
          <a:ext cx="0" cy="0"/>
          <a:chOff x="0" y="0"/>
          <a:chExt cx="0" cy="0"/>
        </a:xfrm>
      </p:grpSpPr>
      <p:sp>
        <p:nvSpPr>
          <p:cNvPr id="2" name="Text 0"/>
          <p:cNvSpPr/>
          <p:nvPr/>
        </p:nvSpPr>
        <p:spPr>
          <a:xfrm>
            <a:off x="812798" y="1741185"/>
            <a:ext cx="7721581" cy="196850"/>
          </a:xfrm>
          <a:prstGeom prst="rect">
            <a:avLst/>
          </a:prstGeom>
          <a:noFill/>
          <a:ln/>
        </p:spPr>
        <p:txBody>
          <a:bodyPr wrap="square" lIns="0" tIns="0" rIns="0" bIns="0" rtlCol="0" anchor="t"/>
          <a:lstStyle/>
          <a:p>
            <a:pPr algn="l" indent="0" marL="0">
              <a:lnSpc>
                <a:spcPts val="1440"/>
              </a:lnSpc>
              <a:buNone/>
            </a:pPr>
            <a:r>
              <a:rPr lang="en-US" sz="1200" spc="100" kern="0" dirty="0">
                <a:solidFill>
                  <a:srgbClr val="39FF88"/>
                </a:solidFill>
                <a:latin typeface="JetBrains Mono" pitchFamily="34" charset="0"/>
                <a:ea typeface="JetBrains Mono" pitchFamily="34" charset="-122"/>
                <a:cs typeface="JetBrains Mono" pitchFamily="34" charset="-120"/>
              </a:rPr>
              <a:t>BUILDING WITH CLAUDE CODE · CAFFEINE TRACKER</a:t>
            </a:r>
            <a:endParaRPr lang="en-US" sz="1200" dirty="0"/>
          </a:p>
        </p:txBody>
      </p:sp>
      <p:sp>
        <p:nvSpPr>
          <p:cNvPr id="3" name="Text 1"/>
          <p:cNvSpPr/>
          <p:nvPr/>
        </p:nvSpPr>
        <p:spPr>
          <a:xfrm>
            <a:off x="812798" y="2141234"/>
            <a:ext cx="7721581" cy="1600196"/>
          </a:xfrm>
          <a:prstGeom prst="rect">
            <a:avLst/>
          </a:prstGeom>
          <a:noFill/>
          <a:ln/>
        </p:spPr>
        <p:txBody>
          <a:bodyPr wrap="square" lIns="0" tIns="0" rIns="0" bIns="0" rtlCol="0" anchor="t"/>
          <a:lstStyle/>
          <a:p>
            <a:pPr algn="l" indent="0" marL="0">
              <a:lnSpc>
                <a:spcPts val="6300"/>
              </a:lnSpc>
              <a:buNone/>
            </a:pPr>
            <a:r>
              <a:rPr lang="en-US" sz="6000" b="1" dirty="0">
                <a:solidFill>
                  <a:srgbClr val="F4F6F1"/>
                </a:solidFill>
                <a:latin typeface="JetBrains Mono" pitchFamily="34" charset="0"/>
                <a:ea typeface="JetBrains Mono" pitchFamily="34" charset="-122"/>
                <a:cs typeface="JetBrains Mono" pitchFamily="34" charset="-120"/>
              </a:rPr>
              <a:t>Part 2</a:t>
            </a:r>
            <a:endParaRPr lang="en-US" sz="6000" dirty="0"/>
          </a:p>
          <a:p>
            <a:pPr algn="l" indent="0" marL="0">
              <a:lnSpc>
                <a:spcPts val="6300"/>
              </a:lnSpc>
              <a:buNone/>
            </a:pPr>
            <a:r>
              <a:rPr lang="en-US" sz="6000" b="1" dirty="0">
                <a:solidFill>
                  <a:srgbClr val="F4F6F1"/>
                </a:solidFill>
                <a:latin typeface="JetBrains Mono" pitchFamily="34" charset="0"/>
                <a:ea typeface="JetBrains Mono" pitchFamily="34" charset="-122"/>
                <a:cs typeface="JetBrains Mono" pitchFamily="34" charset="-120"/>
              </a:rPr>
              <a:t>App Building</a:t>
            </a:r>
            <a:endParaRPr lang="en-US" sz="6000" dirty="0"/>
          </a:p>
        </p:txBody>
      </p:sp>
      <p:sp>
        <p:nvSpPr>
          <p:cNvPr id="4" name="Text 2"/>
          <p:cNvSpPr/>
          <p:nvPr/>
        </p:nvSpPr>
        <p:spPr>
          <a:xfrm>
            <a:off x="812798" y="3944630"/>
            <a:ext cx="7721581" cy="568919"/>
          </a:xfrm>
          <a:prstGeom prst="rect">
            <a:avLst/>
          </a:prstGeom>
          <a:noFill/>
          <a:ln/>
        </p:spPr>
        <p:txBody>
          <a:bodyPr wrap="square" lIns="0" tIns="0" rIns="0" bIns="0" rtlCol="0" anchor="t"/>
          <a:lstStyle/>
          <a:p>
            <a:pPr algn="l" indent="0" marL="0">
              <a:lnSpc>
                <a:spcPts val="2240"/>
              </a:lnSpc>
              <a:buNone/>
            </a:pPr>
            <a:r>
              <a:rPr lang="en-US" sz="1600" dirty="0">
                <a:solidFill>
                  <a:srgbClr val="A9C9B3"/>
                </a:solidFill>
                <a:latin typeface="IBM Plex Sans" pitchFamily="34" charset="0"/>
                <a:ea typeface="IBM Plex Sans" pitchFamily="34" charset="-122"/>
                <a:cs typeface="IBM Plex Sans" pitchFamily="34" charset="-120"/>
              </a:rPr>
              <a:t>The design from Part 1 becomes a working app, checked in a real browser, in its own repo.</a:t>
            </a:r>
            <a:endParaRPr lang="en-US" sz="1600" dirty="0"/>
          </a:p>
        </p:txBody>
      </p:sp>
      <p:sp>
        <p:nvSpPr>
          <p:cNvPr id="5" name="Text 3"/>
          <p:cNvSpPr/>
          <p:nvPr/>
        </p:nvSpPr>
        <p:spPr>
          <a:xfrm>
            <a:off x="812798" y="4716748"/>
            <a:ext cx="7721581" cy="196850"/>
          </a:xfrm>
          <a:prstGeom prst="rect">
            <a:avLst/>
          </a:prstGeom>
          <a:noFill/>
          <a:ln/>
        </p:spPr>
        <p:txBody>
          <a:bodyPr wrap="square" lIns="0" tIns="0" rIns="0" bIns="0" rtlCol="0" anchor="t"/>
          <a:lstStyle/>
          <a:p>
            <a:pPr algn="l" indent="0" marL="0">
              <a:lnSpc>
                <a:spcPts val="1440"/>
              </a:lnSpc>
              <a:buNone/>
            </a:pPr>
            <a:r>
              <a:rPr lang="en-US" sz="1200" dirty="0">
                <a:solidFill>
                  <a:srgbClr val="86B394"/>
                </a:solidFill>
                <a:latin typeface="JetBrains Mono" pitchFamily="34" charset="0"/>
                <a:ea typeface="JetBrains Mono" pitchFamily="34" charset="-122"/>
                <a:cs typeface="JetBrains Mono" pitchFamily="34" charset="-120"/>
              </a:rPr>
              <a:t>about 20 minutes · tag part-2-app</a:t>
            </a:r>
            <a:endParaRPr lang="en-US" sz="1200" dirty="0"/>
          </a:p>
        </p:txBody>
      </p:sp>
      <p:sp>
        <p:nvSpPr>
          <p:cNvPr id="6" name="Shape 4"/>
          <p:cNvSpPr/>
          <p:nvPr/>
        </p:nvSpPr>
        <p:spPr>
          <a:xfrm>
            <a:off x="9474176" y="2613018"/>
            <a:ext cx="1142997" cy="1428746"/>
          </a:xfrm>
          <a:prstGeom prst="rect">
            <a:avLst/>
          </a:prstGeom>
          <a:ln w="95250">
            <a:solidFill>
              <a:srgbClr val="39FF88"/>
            </a:solidFill>
            <a:prstDash val="solid"/>
          </a:ln>
        </p:spPr>
      </p:sp>
      <p:sp>
        <p:nvSpPr>
          <p:cNvPr id="7" name="Shape 5"/>
          <p:cNvSpPr/>
          <p:nvPr/>
        </p:nvSpPr>
        <p:spPr>
          <a:xfrm>
            <a:off x="10617173" y="2994018"/>
            <a:ext cx="457199" cy="666748"/>
          </a:xfrm>
          <a:prstGeom prst="rect">
            <a:avLst/>
          </a:prstGeom>
          <a:ln w="95250">
            <a:solidFill>
              <a:srgbClr val="39FF88"/>
            </a:solidFill>
            <a:prstDash val="solid"/>
          </a:ln>
        </p:spPr>
      </p:sp>
      <p:sp>
        <p:nvSpPr>
          <p:cNvPr id="8" name="Shape 6"/>
          <p:cNvSpPr/>
          <p:nvPr/>
        </p:nvSpPr>
        <p:spPr>
          <a:xfrm>
            <a:off x="9569426" y="3184517"/>
            <a:ext cx="952498" cy="761998"/>
          </a:xfrm>
          <a:prstGeom prst="rect">
            <a:avLst/>
          </a:prstGeom>
          <a:solidFill>
            <a:srgbClr val="39FF88">
              <a:alpha val="90000"/>
            </a:srgbClr>
          </a:solidFill>
          <a:ln/>
        </p:spPr>
      </p:sp>
      <p:sp>
        <p:nvSpPr>
          <p:cNvPr id="9" name="Shape 7"/>
          <p:cNvSpPr/>
          <p:nvPr/>
        </p:nvSpPr>
        <p:spPr>
          <a:xfrm>
            <a:off x="9283677" y="4156065"/>
            <a:ext cx="1714496" cy="114300"/>
          </a:xfrm>
          <a:prstGeom prst="rect">
            <a:avLst/>
          </a:prstGeom>
          <a:solidFill>
            <a:srgbClr val="24402C"/>
          </a:solidFill>
          <a:ln/>
        </p:spPr>
      </p:sp>
      <p:sp>
        <p:nvSpPr>
          <p:cNvPr id="10" name="Shape 8"/>
          <p:cNvSpPr/>
          <p:nvPr/>
        </p:nvSpPr>
        <p:spPr>
          <a:xfrm>
            <a:off x="9759926" y="2232019"/>
            <a:ext cx="76200" cy="76200"/>
          </a:xfrm>
          <a:prstGeom prst="rect">
            <a:avLst/>
          </a:prstGeom>
          <a:solidFill>
            <a:srgbClr val="86B394"/>
          </a:solidFill>
          <a:ln/>
        </p:spPr>
      </p:sp>
      <p:sp>
        <p:nvSpPr>
          <p:cNvPr id="11" name="Shape 9"/>
          <p:cNvSpPr/>
          <p:nvPr/>
        </p:nvSpPr>
        <p:spPr>
          <a:xfrm>
            <a:off x="9702776" y="2365369"/>
            <a:ext cx="76200" cy="76200"/>
          </a:xfrm>
          <a:prstGeom prst="rect">
            <a:avLst/>
          </a:prstGeom>
          <a:solidFill>
            <a:srgbClr val="86B394"/>
          </a:solidFill>
          <a:ln/>
        </p:spPr>
      </p:sp>
      <p:sp>
        <p:nvSpPr>
          <p:cNvPr id="12" name="Shape 10"/>
          <p:cNvSpPr/>
          <p:nvPr/>
        </p:nvSpPr>
        <p:spPr>
          <a:xfrm>
            <a:off x="10140925" y="2193920"/>
            <a:ext cx="76200" cy="76200"/>
          </a:xfrm>
          <a:prstGeom prst="rect">
            <a:avLst/>
          </a:prstGeom>
          <a:solidFill>
            <a:srgbClr val="86B394"/>
          </a:solidFill>
          <a:ln/>
        </p:spPr>
      </p:sp>
      <p:sp>
        <p:nvSpPr>
          <p:cNvPr id="13" name="Shape 11"/>
          <p:cNvSpPr/>
          <p:nvPr/>
        </p:nvSpPr>
        <p:spPr>
          <a:xfrm>
            <a:off x="10198075" y="2327269"/>
            <a:ext cx="76200" cy="76200"/>
          </a:xfrm>
          <a:prstGeom prst="rect">
            <a:avLst/>
          </a:prstGeom>
          <a:solidFill>
            <a:srgbClr val="86B394"/>
          </a:solidFill>
          <a:ln/>
        </p:spPr>
      </p:sp>
      <p:sp>
        <p:nvSpPr>
          <p:cNvPr id="14" name="Text 12"/>
          <p:cNvSpPr/>
          <p:nvPr/>
        </p:nvSpPr>
        <p:spPr>
          <a:xfrm>
            <a:off x="812798" y="6254734"/>
            <a:ext cx="10617173" cy="196850"/>
          </a:xfrm>
          <a:prstGeom prst="rect">
            <a:avLst/>
          </a:prstGeom>
          <a:noFill/>
          <a:ln/>
        </p:spPr>
        <p:txBody>
          <a:bodyPr wrap="square" lIns="0" tIns="0" rIns="0" bIns="0" rtlCol="0" anchor="t"/>
          <a:lstStyle/>
          <a:p>
            <a:pPr algn="l" indent="0" marL="0">
              <a:lnSpc>
                <a:spcPts val="1440"/>
              </a:lnSpc>
              <a:buNone/>
            </a:pPr>
            <a:r>
              <a:rPr lang="en-US" sz="1200" dirty="0">
                <a:solidFill>
                  <a:srgbClr val="86B394"/>
                </a:solidFill>
                <a:latin typeface="JetBrains Mono" pitchFamily="34" charset="0"/>
                <a:ea typeface="JetBrains Mono" pitchFamily="34" charset="-122"/>
                <a:cs typeface="JetBrains Mono" pitchFamily="34" charset="-120"/>
              </a:rPr>
              <a:t>~$ part 2 of 4 · architecture → app → tests → production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F0C"/>
        </a:solidFill>
      </p:bgPr>
    </p:bg>
    <p:spTree>
      <p:nvGrpSpPr>
        <p:cNvPr id="1" name=""/>
        <p:cNvGrpSpPr/>
        <p:nvPr/>
      </p:nvGrpSpPr>
      <p:grpSpPr>
        <a:xfrm>
          <a:off x="0" y="0"/>
          <a:ext cx="0" cy="0"/>
          <a:chOff x="0" y="0"/>
          <a:chExt cx="0" cy="0"/>
        </a:xfrm>
      </p:grpSpPr>
      <p:sp>
        <p:nvSpPr>
          <p:cNvPr id="2" name="Text 0"/>
          <p:cNvSpPr/>
          <p:nvPr/>
        </p:nvSpPr>
        <p:spPr>
          <a:xfrm>
            <a:off x="812798" y="812798"/>
            <a:ext cx="10617173" cy="196850"/>
          </a:xfrm>
          <a:prstGeom prst="rect">
            <a:avLst/>
          </a:prstGeom>
          <a:noFill/>
          <a:ln/>
        </p:spPr>
        <p:txBody>
          <a:bodyPr wrap="square" lIns="0" tIns="0" rIns="0" bIns="0" rtlCol="0" anchor="t"/>
          <a:lstStyle/>
          <a:p>
            <a:pPr algn="l" indent="0" marL="0">
              <a:lnSpc>
                <a:spcPts val="1440"/>
              </a:lnSpc>
              <a:buNone/>
            </a:pPr>
            <a:r>
              <a:rPr lang="en-US" sz="1200" spc="100" kern="0" dirty="0">
                <a:solidFill>
                  <a:srgbClr val="39FF88"/>
                </a:solidFill>
                <a:latin typeface="JetBrains Mono" pitchFamily="34" charset="0"/>
                <a:ea typeface="JetBrains Mono" pitchFamily="34" charset="-122"/>
                <a:cs typeface="JetBrains Mono" pitchFamily="34" charset="-120"/>
              </a:rPr>
              <a:t>// THE FOUR PARTS</a:t>
            </a:r>
            <a:endParaRPr lang="en-US" sz="1200" dirty="0"/>
          </a:p>
        </p:txBody>
      </p:sp>
      <p:sp>
        <p:nvSpPr>
          <p:cNvPr id="3" name="Text 1"/>
          <p:cNvSpPr/>
          <p:nvPr/>
        </p:nvSpPr>
        <p:spPr>
          <a:xfrm>
            <a:off x="812798" y="1314447"/>
            <a:ext cx="10617173" cy="502839"/>
          </a:xfrm>
          <a:prstGeom prst="rect">
            <a:avLst/>
          </a:prstGeom>
          <a:noFill/>
          <a:ln/>
        </p:spPr>
        <p:txBody>
          <a:bodyPr wrap="square" lIns="0" tIns="0" rIns="0" bIns="0" rtlCol="0" anchor="t"/>
          <a:lstStyle/>
          <a:p>
            <a:pPr algn="l" indent="0" marL="0">
              <a:lnSpc>
                <a:spcPts val="3960"/>
              </a:lnSpc>
              <a:buNone/>
            </a:pPr>
            <a:r>
              <a:rPr lang="en-US" sz="3600" b="1" dirty="0">
                <a:solidFill>
                  <a:srgbClr val="39FF88"/>
                </a:solidFill>
                <a:latin typeface="JetBrains Mono" pitchFamily="34" charset="0"/>
                <a:ea typeface="JetBrains Mono" pitchFamily="34" charset="-122"/>
                <a:cs typeface="JetBrains Mono" pitchFamily="34" charset="-120"/>
              </a:rPr>
              <a:t>~$</a:t>
            </a:r>
            <a:pPr algn="l" indent="0" marL="0">
              <a:lnSpc>
                <a:spcPts val="3960"/>
              </a:lnSpc>
              <a:buNone/>
            </a:pPr>
            <a:r>
              <a:rPr lang="en-US" sz="3600" b="1" dirty="0">
                <a:solidFill>
                  <a:srgbClr val="F4F6F1"/>
                </a:solidFill>
                <a:latin typeface="JetBrains Mono" pitchFamily="34" charset="0"/>
                <a:ea typeface="JetBrains Mono" pitchFamily="34" charset="-122"/>
                <a:cs typeface="JetBrains Mono" pitchFamily="34" charset="-120"/>
              </a:rPr>
              <a:t> One app, four sittings</a:t>
            </a:r>
            <a:endParaRPr lang="en-US" sz="3600" dirty="0"/>
          </a:p>
        </p:txBody>
      </p:sp>
      <p:sp>
        <p:nvSpPr>
          <p:cNvPr id="4" name="Text 2"/>
          <p:cNvSpPr/>
          <p:nvPr/>
        </p:nvSpPr>
        <p:spPr>
          <a:xfrm>
            <a:off x="812798" y="2122085"/>
            <a:ext cx="10617173" cy="284459"/>
          </a:xfrm>
          <a:prstGeom prst="rect">
            <a:avLst/>
          </a:prstGeom>
          <a:noFill/>
          <a:ln/>
        </p:spPr>
        <p:txBody>
          <a:bodyPr wrap="square" lIns="0" tIns="0" rIns="0" bIns="0" rtlCol="0" anchor="t"/>
          <a:lstStyle/>
          <a:p>
            <a:pPr algn="l" indent="0" marL="0">
              <a:lnSpc>
                <a:spcPts val="2240"/>
              </a:lnSpc>
              <a:buNone/>
            </a:pPr>
            <a:r>
              <a:rPr lang="en-US" sz="1600" dirty="0">
                <a:solidFill>
                  <a:srgbClr val="A9C9B3"/>
                </a:solidFill>
                <a:latin typeface="IBM Plex Sans" pitchFamily="34" charset="0"/>
                <a:ea typeface="IBM Plex Sans" pitchFamily="34" charset="-122"/>
                <a:cs typeface="IBM Plex Sans" pitchFamily="34" charset="-120"/>
              </a:rPr>
              <a:t>Part 1 is frozen at its tag. The build starts a new repo that carries a living copy of the architecture doc.</a:t>
            </a:r>
            <a:endParaRPr lang="en-US" sz="1600" dirty="0"/>
          </a:p>
        </p:txBody>
      </p:sp>
      <p:sp>
        <p:nvSpPr>
          <p:cNvPr id="5" name="Shape 3"/>
          <p:cNvSpPr/>
          <p:nvPr/>
        </p:nvSpPr>
        <p:spPr>
          <a:xfrm>
            <a:off x="812798" y="2711344"/>
            <a:ext cx="2486019" cy="2183005"/>
          </a:xfrm>
          <a:prstGeom prst="roundRect">
            <a:avLst>
              <a:gd name="adj" fmla="val 3491"/>
            </a:avLst>
          </a:prstGeom>
          <a:solidFill>
            <a:srgbClr val="111812"/>
          </a:solidFill>
          <a:ln w="9525">
            <a:solidFill>
              <a:srgbClr val="24402C"/>
            </a:solidFill>
            <a:prstDash val="solid"/>
          </a:ln>
        </p:spPr>
      </p:sp>
      <p:sp>
        <p:nvSpPr>
          <p:cNvPr id="6" name="Text 4"/>
          <p:cNvSpPr/>
          <p:nvPr/>
        </p:nvSpPr>
        <p:spPr>
          <a:xfrm>
            <a:off x="1047747" y="2946293"/>
            <a:ext cx="2066920" cy="368299"/>
          </a:xfrm>
          <a:prstGeom prst="rect">
            <a:avLst/>
          </a:prstGeom>
          <a:noFill/>
          <a:ln/>
        </p:spPr>
        <p:txBody>
          <a:bodyPr wrap="square" lIns="0" tIns="0" rIns="0" bIns="0" rtlCol="0" anchor="t"/>
          <a:lstStyle/>
          <a:p>
            <a:pPr algn="l" indent="0" marL="0">
              <a:lnSpc>
                <a:spcPts val="2640"/>
              </a:lnSpc>
              <a:buNone/>
            </a:pPr>
            <a:r>
              <a:rPr lang="en-US" sz="2200" b="1" dirty="0">
                <a:solidFill>
                  <a:srgbClr val="86B394"/>
                </a:solidFill>
                <a:latin typeface="JetBrains Mono" pitchFamily="34" charset="0"/>
                <a:ea typeface="JetBrains Mono" pitchFamily="34" charset="-122"/>
                <a:cs typeface="JetBrains Mono" pitchFamily="34" charset="-120"/>
              </a:rPr>
              <a:t>01</a:t>
            </a:r>
            <a:endParaRPr lang="en-US" sz="2200" dirty="0"/>
          </a:p>
        </p:txBody>
      </p:sp>
      <p:sp>
        <p:nvSpPr>
          <p:cNvPr id="7" name="Text 5"/>
          <p:cNvSpPr/>
          <p:nvPr/>
        </p:nvSpPr>
        <p:spPr>
          <a:xfrm>
            <a:off x="1047747" y="3390792"/>
            <a:ext cx="2066920" cy="266699"/>
          </a:xfrm>
          <a:prstGeom prst="rect">
            <a:avLst/>
          </a:prstGeom>
          <a:noFill/>
          <a:ln/>
        </p:spPr>
        <p:txBody>
          <a:bodyPr wrap="square" lIns="0" tIns="0" rIns="0" bIns="0" rtlCol="0" anchor="t"/>
          <a:lstStyle/>
          <a:p>
            <a:pPr algn="l" indent="0" marL="0">
              <a:lnSpc>
                <a:spcPts val="1920"/>
              </a:lnSpc>
              <a:buNone/>
            </a:pPr>
            <a:r>
              <a:rPr lang="en-US" sz="1600" b="1" dirty="0">
                <a:solidFill>
                  <a:srgbClr val="F4F6F1"/>
                </a:solidFill>
                <a:latin typeface="IBM Plex Sans" pitchFamily="34" charset="0"/>
                <a:ea typeface="IBM Plex Sans" pitchFamily="34" charset="-122"/>
                <a:cs typeface="IBM Plex Sans" pitchFamily="34" charset="-120"/>
              </a:rPr>
              <a:t>Architecture</a:t>
            </a:r>
            <a:endParaRPr lang="en-US" sz="1600" dirty="0"/>
          </a:p>
        </p:txBody>
      </p:sp>
      <p:sp>
        <p:nvSpPr>
          <p:cNvPr id="8" name="Text 6"/>
          <p:cNvSpPr/>
          <p:nvPr/>
        </p:nvSpPr>
        <p:spPr>
          <a:xfrm>
            <a:off x="1047747" y="3733691"/>
            <a:ext cx="2066920" cy="639959"/>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Requirements, decisions, a diagram and a design canvas. Done.</a:t>
            </a:r>
            <a:endParaRPr lang="en-US" sz="1200" dirty="0"/>
          </a:p>
        </p:txBody>
      </p:sp>
      <p:sp>
        <p:nvSpPr>
          <p:cNvPr id="9" name="Shape 7"/>
          <p:cNvSpPr/>
          <p:nvPr/>
        </p:nvSpPr>
        <p:spPr>
          <a:xfrm>
            <a:off x="3502016" y="2711344"/>
            <a:ext cx="2498719" cy="2183005"/>
          </a:xfrm>
          <a:prstGeom prst="roundRect">
            <a:avLst>
              <a:gd name="adj" fmla="val 3491"/>
            </a:avLst>
          </a:prstGeom>
          <a:solidFill>
            <a:srgbClr val="16201A"/>
          </a:solidFill>
          <a:ln w="12700">
            <a:solidFill>
              <a:srgbClr val="39FF88"/>
            </a:solidFill>
            <a:prstDash val="solid"/>
          </a:ln>
        </p:spPr>
      </p:sp>
      <p:sp>
        <p:nvSpPr>
          <p:cNvPr id="10" name="Text 8"/>
          <p:cNvSpPr/>
          <p:nvPr/>
        </p:nvSpPr>
        <p:spPr>
          <a:xfrm>
            <a:off x="3743316" y="2952643"/>
            <a:ext cx="2066920" cy="368299"/>
          </a:xfrm>
          <a:prstGeom prst="rect">
            <a:avLst/>
          </a:prstGeom>
          <a:noFill/>
          <a:ln/>
        </p:spPr>
        <p:txBody>
          <a:bodyPr wrap="square" lIns="0" tIns="0" rIns="0" bIns="0" rtlCol="0" anchor="t"/>
          <a:lstStyle/>
          <a:p>
            <a:pPr algn="l" indent="0" marL="0">
              <a:lnSpc>
                <a:spcPts val="2640"/>
              </a:lnSpc>
              <a:buNone/>
            </a:pPr>
            <a:r>
              <a:rPr lang="en-US" sz="2200" b="1" dirty="0">
                <a:solidFill>
                  <a:srgbClr val="39FF88"/>
                </a:solidFill>
                <a:latin typeface="JetBrains Mono" pitchFamily="34" charset="0"/>
                <a:ea typeface="JetBrains Mono" pitchFamily="34" charset="-122"/>
                <a:cs typeface="JetBrains Mono" pitchFamily="34" charset="-120"/>
              </a:rPr>
              <a:t>02</a:t>
            </a:r>
            <a:endParaRPr lang="en-US" sz="2200" dirty="0"/>
          </a:p>
        </p:txBody>
      </p:sp>
      <p:sp>
        <p:nvSpPr>
          <p:cNvPr id="11" name="Text 9"/>
          <p:cNvSpPr/>
          <p:nvPr/>
        </p:nvSpPr>
        <p:spPr>
          <a:xfrm>
            <a:off x="3743316" y="3397142"/>
            <a:ext cx="2066920" cy="266699"/>
          </a:xfrm>
          <a:prstGeom prst="rect">
            <a:avLst/>
          </a:prstGeom>
          <a:noFill/>
          <a:ln/>
        </p:spPr>
        <p:txBody>
          <a:bodyPr wrap="square" lIns="0" tIns="0" rIns="0" bIns="0" rtlCol="0" anchor="t"/>
          <a:lstStyle/>
          <a:p>
            <a:pPr algn="l" indent="0" marL="0">
              <a:lnSpc>
                <a:spcPts val="1920"/>
              </a:lnSpc>
              <a:buNone/>
            </a:pPr>
            <a:r>
              <a:rPr lang="en-US" sz="1600" b="1" dirty="0">
                <a:solidFill>
                  <a:srgbClr val="F4F6F1"/>
                </a:solidFill>
                <a:latin typeface="IBM Plex Sans" pitchFamily="34" charset="0"/>
                <a:ea typeface="IBM Plex Sans" pitchFamily="34" charset="-122"/>
                <a:cs typeface="IBM Plex Sans" pitchFamily="34" charset="-120"/>
              </a:rPr>
              <a:t>App building</a:t>
            </a:r>
            <a:endParaRPr lang="en-US" sz="1600" dirty="0"/>
          </a:p>
        </p:txBody>
      </p:sp>
      <p:sp>
        <p:nvSpPr>
          <p:cNvPr id="12" name="Text 10"/>
          <p:cNvSpPr/>
          <p:nvPr/>
        </p:nvSpPr>
        <p:spPr>
          <a:xfrm>
            <a:off x="3743316" y="3740041"/>
            <a:ext cx="2066920" cy="639959"/>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The design becomes a running app, checked in the browser.</a:t>
            </a:r>
            <a:endParaRPr lang="en-US" sz="1200" dirty="0"/>
          </a:p>
        </p:txBody>
      </p:sp>
      <p:sp>
        <p:nvSpPr>
          <p:cNvPr id="13" name="Text 11"/>
          <p:cNvSpPr/>
          <p:nvPr/>
        </p:nvSpPr>
        <p:spPr>
          <a:xfrm>
            <a:off x="3743316" y="4456201"/>
            <a:ext cx="2066920" cy="196850"/>
          </a:xfrm>
          <a:prstGeom prst="rect">
            <a:avLst/>
          </a:prstGeom>
          <a:noFill/>
          <a:ln/>
        </p:spPr>
        <p:txBody>
          <a:bodyPr wrap="square" lIns="0" tIns="0" rIns="0" bIns="0" rtlCol="0" anchor="t"/>
          <a:lstStyle/>
          <a:p>
            <a:pPr algn="l" indent="0" marL="0">
              <a:lnSpc>
                <a:spcPts val="1440"/>
              </a:lnSpc>
              <a:buNone/>
            </a:pPr>
            <a:r>
              <a:rPr lang="en-US" sz="1200" dirty="0">
                <a:solidFill>
                  <a:srgbClr val="39FF88"/>
                </a:solidFill>
                <a:latin typeface="JetBrains Mono" pitchFamily="34" charset="0"/>
                <a:ea typeface="JetBrains Mono" pitchFamily="34" charset="-122"/>
                <a:cs typeface="JetBrains Mono" pitchFamily="34" charset="-120"/>
              </a:rPr>
              <a:t>you are here</a:t>
            </a:r>
            <a:endParaRPr lang="en-US" sz="1200" dirty="0"/>
          </a:p>
        </p:txBody>
      </p:sp>
      <p:sp>
        <p:nvSpPr>
          <p:cNvPr id="14" name="Shape 12"/>
          <p:cNvSpPr/>
          <p:nvPr/>
        </p:nvSpPr>
        <p:spPr>
          <a:xfrm>
            <a:off x="6203934" y="2711344"/>
            <a:ext cx="2486019" cy="2183005"/>
          </a:xfrm>
          <a:prstGeom prst="roundRect">
            <a:avLst>
              <a:gd name="adj" fmla="val 3491"/>
            </a:avLst>
          </a:prstGeom>
          <a:solidFill>
            <a:srgbClr val="111812"/>
          </a:solidFill>
          <a:ln w="9525">
            <a:solidFill>
              <a:srgbClr val="24402C"/>
            </a:solidFill>
            <a:prstDash val="solid"/>
          </a:ln>
        </p:spPr>
      </p:sp>
      <p:sp>
        <p:nvSpPr>
          <p:cNvPr id="15" name="Text 13"/>
          <p:cNvSpPr/>
          <p:nvPr/>
        </p:nvSpPr>
        <p:spPr>
          <a:xfrm>
            <a:off x="6438884" y="2946293"/>
            <a:ext cx="2066920" cy="368299"/>
          </a:xfrm>
          <a:prstGeom prst="rect">
            <a:avLst/>
          </a:prstGeom>
          <a:noFill/>
          <a:ln/>
        </p:spPr>
        <p:txBody>
          <a:bodyPr wrap="square" lIns="0" tIns="0" rIns="0" bIns="0" rtlCol="0" anchor="t"/>
          <a:lstStyle/>
          <a:p>
            <a:pPr algn="l" indent="0" marL="0">
              <a:lnSpc>
                <a:spcPts val="2640"/>
              </a:lnSpc>
              <a:buNone/>
            </a:pPr>
            <a:r>
              <a:rPr lang="en-US" sz="2200" b="1" dirty="0">
                <a:solidFill>
                  <a:srgbClr val="86B394"/>
                </a:solidFill>
                <a:latin typeface="JetBrains Mono" pitchFamily="34" charset="0"/>
                <a:ea typeface="JetBrains Mono" pitchFamily="34" charset="-122"/>
                <a:cs typeface="JetBrains Mono" pitchFamily="34" charset="-120"/>
              </a:rPr>
              <a:t>03</a:t>
            </a:r>
            <a:endParaRPr lang="en-US" sz="2200" dirty="0"/>
          </a:p>
        </p:txBody>
      </p:sp>
      <p:sp>
        <p:nvSpPr>
          <p:cNvPr id="16" name="Text 14"/>
          <p:cNvSpPr/>
          <p:nvPr/>
        </p:nvSpPr>
        <p:spPr>
          <a:xfrm>
            <a:off x="6438884" y="3390792"/>
            <a:ext cx="2066920" cy="266699"/>
          </a:xfrm>
          <a:prstGeom prst="rect">
            <a:avLst/>
          </a:prstGeom>
          <a:noFill/>
          <a:ln/>
        </p:spPr>
        <p:txBody>
          <a:bodyPr wrap="square" lIns="0" tIns="0" rIns="0" bIns="0" rtlCol="0" anchor="t"/>
          <a:lstStyle/>
          <a:p>
            <a:pPr algn="l" indent="0" marL="0">
              <a:lnSpc>
                <a:spcPts val="1920"/>
              </a:lnSpc>
              <a:buNone/>
            </a:pPr>
            <a:r>
              <a:rPr lang="en-US" sz="1600" b="1" dirty="0">
                <a:solidFill>
                  <a:srgbClr val="F4F6F1"/>
                </a:solidFill>
                <a:latin typeface="IBM Plex Sans" pitchFamily="34" charset="0"/>
                <a:ea typeface="IBM Plex Sans" pitchFamily="34" charset="-122"/>
                <a:cs typeface="IBM Plex Sans" pitchFamily="34" charset="-120"/>
              </a:rPr>
              <a:t>Testing</a:t>
            </a:r>
            <a:endParaRPr lang="en-US" sz="1600" dirty="0"/>
          </a:p>
        </p:txBody>
      </p:sp>
      <p:sp>
        <p:nvSpPr>
          <p:cNvPr id="17" name="Text 15"/>
          <p:cNvSpPr/>
          <p:nvPr/>
        </p:nvSpPr>
        <p:spPr>
          <a:xfrm>
            <a:off x="6438884" y="3733691"/>
            <a:ext cx="2066920" cy="639959"/>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Unit and end-to-end tests, then a planted bug gets caught.</a:t>
            </a:r>
            <a:endParaRPr lang="en-US" sz="1200" dirty="0"/>
          </a:p>
        </p:txBody>
      </p:sp>
      <p:sp>
        <p:nvSpPr>
          <p:cNvPr id="18" name="Shape 16"/>
          <p:cNvSpPr/>
          <p:nvPr/>
        </p:nvSpPr>
        <p:spPr>
          <a:xfrm>
            <a:off x="8893153" y="2711344"/>
            <a:ext cx="2486019" cy="2183005"/>
          </a:xfrm>
          <a:prstGeom prst="roundRect">
            <a:avLst>
              <a:gd name="adj" fmla="val 3491"/>
            </a:avLst>
          </a:prstGeom>
          <a:solidFill>
            <a:srgbClr val="111812"/>
          </a:solidFill>
          <a:ln w="9525">
            <a:solidFill>
              <a:srgbClr val="24402C"/>
            </a:solidFill>
            <a:prstDash val="solid"/>
          </a:ln>
        </p:spPr>
      </p:sp>
      <p:sp>
        <p:nvSpPr>
          <p:cNvPr id="19" name="Text 17"/>
          <p:cNvSpPr/>
          <p:nvPr/>
        </p:nvSpPr>
        <p:spPr>
          <a:xfrm>
            <a:off x="9128102" y="2946293"/>
            <a:ext cx="2066920" cy="368299"/>
          </a:xfrm>
          <a:prstGeom prst="rect">
            <a:avLst/>
          </a:prstGeom>
          <a:noFill/>
          <a:ln/>
        </p:spPr>
        <p:txBody>
          <a:bodyPr wrap="square" lIns="0" tIns="0" rIns="0" bIns="0" rtlCol="0" anchor="t"/>
          <a:lstStyle/>
          <a:p>
            <a:pPr algn="l" indent="0" marL="0">
              <a:lnSpc>
                <a:spcPts val="2640"/>
              </a:lnSpc>
              <a:buNone/>
            </a:pPr>
            <a:r>
              <a:rPr lang="en-US" sz="2200" b="1" dirty="0">
                <a:solidFill>
                  <a:srgbClr val="86B394"/>
                </a:solidFill>
                <a:latin typeface="JetBrains Mono" pitchFamily="34" charset="0"/>
                <a:ea typeface="JetBrains Mono" pitchFamily="34" charset="-122"/>
                <a:cs typeface="JetBrains Mono" pitchFamily="34" charset="-120"/>
              </a:rPr>
              <a:t>04</a:t>
            </a:r>
            <a:endParaRPr lang="en-US" sz="2200" dirty="0"/>
          </a:p>
        </p:txBody>
      </p:sp>
      <p:sp>
        <p:nvSpPr>
          <p:cNvPr id="20" name="Text 18"/>
          <p:cNvSpPr/>
          <p:nvPr/>
        </p:nvSpPr>
        <p:spPr>
          <a:xfrm>
            <a:off x="9128102" y="3390792"/>
            <a:ext cx="2066920" cy="266699"/>
          </a:xfrm>
          <a:prstGeom prst="rect">
            <a:avLst/>
          </a:prstGeom>
          <a:noFill/>
          <a:ln/>
        </p:spPr>
        <p:txBody>
          <a:bodyPr wrap="square" lIns="0" tIns="0" rIns="0" bIns="0" rtlCol="0" anchor="t"/>
          <a:lstStyle/>
          <a:p>
            <a:pPr algn="l" indent="0" marL="0">
              <a:lnSpc>
                <a:spcPts val="1920"/>
              </a:lnSpc>
              <a:buNone/>
            </a:pPr>
            <a:r>
              <a:rPr lang="en-US" sz="1600" b="1" dirty="0">
                <a:solidFill>
                  <a:srgbClr val="F4F6F1"/>
                </a:solidFill>
                <a:latin typeface="IBM Plex Sans" pitchFamily="34" charset="0"/>
                <a:ea typeface="IBM Plex Sans" pitchFamily="34" charset="-122"/>
                <a:cs typeface="IBM Plex Sans" pitchFamily="34" charset="-120"/>
              </a:rPr>
              <a:t>Production</a:t>
            </a:r>
            <a:endParaRPr lang="en-US" sz="1600" dirty="0"/>
          </a:p>
        </p:txBody>
      </p:sp>
      <p:sp>
        <p:nvSpPr>
          <p:cNvPr id="21" name="Text 19"/>
          <p:cNvSpPr/>
          <p:nvPr/>
        </p:nvSpPr>
        <p:spPr>
          <a:xfrm>
            <a:off x="9128102" y="3733691"/>
            <a:ext cx="2066920" cy="426640"/>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CI, security headers, a review, and a live address.</a:t>
            </a:r>
            <a:endParaRPr lang="en-US" sz="1200" dirty="0"/>
          </a:p>
        </p:txBody>
      </p:sp>
      <p:sp>
        <p:nvSpPr>
          <p:cNvPr id="22" name="Text 20"/>
          <p:cNvSpPr/>
          <p:nvPr/>
        </p:nvSpPr>
        <p:spPr>
          <a:xfrm>
            <a:off x="812798" y="6254734"/>
            <a:ext cx="10617173" cy="196850"/>
          </a:xfrm>
          <a:prstGeom prst="rect">
            <a:avLst/>
          </a:prstGeom>
          <a:noFill/>
          <a:ln/>
        </p:spPr>
        <p:txBody>
          <a:bodyPr wrap="square" lIns="0" tIns="0" rIns="0" bIns="0" rtlCol="0" anchor="t"/>
          <a:lstStyle/>
          <a:p>
            <a:pPr algn="l" indent="0" marL="0">
              <a:lnSpc>
                <a:spcPts val="1440"/>
              </a:lnSpc>
              <a:buNone/>
            </a:pPr>
            <a:r>
              <a:rPr lang="en-US" sz="1200" dirty="0">
                <a:solidFill>
                  <a:srgbClr val="86B394"/>
                </a:solidFill>
                <a:latin typeface="JetBrains Mono" pitchFamily="34" charset="0"/>
                <a:ea typeface="JetBrains Mono" pitchFamily="34" charset="-122"/>
                <a:cs typeface="JetBrains Mono" pitchFamily="34" charset="-120"/>
              </a:rPr>
              <a:t>part 2 · app building</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7A3D"/>
        </a:solidFill>
      </p:bgPr>
    </p:bg>
    <p:spTree>
      <p:nvGrpSpPr>
        <p:cNvPr id="1" name=""/>
        <p:cNvGrpSpPr/>
        <p:nvPr/>
      </p:nvGrpSpPr>
      <p:grpSpPr>
        <a:xfrm>
          <a:off x="0" y="0"/>
          <a:ext cx="0" cy="0"/>
          <a:chOff x="0" y="0"/>
          <a:chExt cx="0" cy="0"/>
        </a:xfrm>
      </p:grpSpPr>
      <p:sp>
        <p:nvSpPr>
          <p:cNvPr id="2" name="Text 0"/>
          <p:cNvSpPr/>
          <p:nvPr/>
        </p:nvSpPr>
        <p:spPr>
          <a:xfrm>
            <a:off x="812798" y="1717671"/>
            <a:ext cx="10617173" cy="196850"/>
          </a:xfrm>
          <a:prstGeom prst="rect">
            <a:avLst/>
          </a:prstGeom>
          <a:noFill/>
          <a:ln/>
        </p:spPr>
        <p:txBody>
          <a:bodyPr wrap="square" lIns="0" tIns="0" rIns="0" bIns="0" rtlCol="0" anchor="t"/>
          <a:lstStyle/>
          <a:p>
            <a:pPr algn="l" indent="0" marL="0">
              <a:lnSpc>
                <a:spcPts val="1440"/>
              </a:lnSpc>
              <a:buNone/>
            </a:pPr>
            <a:r>
              <a:rPr lang="en-US" sz="1200" spc="100" kern="0" dirty="0">
                <a:solidFill>
                  <a:srgbClr val="D7F5DD"/>
                </a:solidFill>
                <a:latin typeface="JetBrains Mono" pitchFamily="34" charset="0"/>
                <a:ea typeface="JetBrains Mono" pitchFamily="34" charset="-122"/>
                <a:cs typeface="JetBrains Mono" pitchFamily="34" charset="-120"/>
              </a:rPr>
              <a:t>// THE GOAL OF PART 2</a:t>
            </a:r>
            <a:endParaRPr lang="en-US" sz="1200" dirty="0"/>
          </a:p>
        </p:txBody>
      </p:sp>
      <p:sp>
        <p:nvSpPr>
          <p:cNvPr id="3" name="Text 1"/>
          <p:cNvSpPr/>
          <p:nvPr/>
        </p:nvSpPr>
        <p:spPr>
          <a:xfrm>
            <a:off x="812798" y="2219319"/>
            <a:ext cx="10617173" cy="1843976"/>
          </a:xfrm>
          <a:prstGeom prst="rect">
            <a:avLst/>
          </a:prstGeom>
          <a:noFill/>
          <a:ln/>
        </p:spPr>
        <p:txBody>
          <a:bodyPr wrap="square" lIns="0" tIns="0" rIns="0" bIns="0" rtlCol="0" anchor="t"/>
          <a:lstStyle/>
          <a:p>
            <a:pPr algn="l" indent="0" marL="0">
              <a:lnSpc>
                <a:spcPts val="4840"/>
              </a:lnSpc>
              <a:buNone/>
            </a:pPr>
            <a:r>
              <a:rPr lang="en-US" sz="4400" b="1" dirty="0">
                <a:solidFill>
                  <a:srgbClr val="F4F6F1"/>
                </a:solidFill>
                <a:latin typeface="JetBrains Mono" pitchFamily="34" charset="0"/>
                <a:ea typeface="JetBrains Mono" pitchFamily="34" charset="-122"/>
                <a:cs typeface="JetBrains Mono" pitchFamily="34" charset="-120"/>
              </a:rPr>
              <a:t>Build exactly what the document describes, and prove it in a browser.</a:t>
            </a:r>
            <a:endParaRPr lang="en-US" sz="4400" dirty="0"/>
          </a:p>
        </p:txBody>
      </p:sp>
      <p:sp>
        <p:nvSpPr>
          <p:cNvPr id="4" name="Text 2"/>
          <p:cNvSpPr/>
          <p:nvPr/>
        </p:nvSpPr>
        <p:spPr>
          <a:xfrm>
            <a:off x="812798" y="4368095"/>
            <a:ext cx="8940778" cy="568919"/>
          </a:xfrm>
          <a:prstGeom prst="rect">
            <a:avLst/>
          </a:prstGeom>
          <a:noFill/>
          <a:ln/>
        </p:spPr>
        <p:txBody>
          <a:bodyPr wrap="square" lIns="0" tIns="0" rIns="0" bIns="0" rtlCol="0" anchor="t"/>
          <a:lstStyle/>
          <a:p>
            <a:pPr algn="l" indent="0" marL="0">
              <a:lnSpc>
                <a:spcPts val="2240"/>
              </a:lnSpc>
              <a:buNone/>
            </a:pPr>
            <a:r>
              <a:rPr lang="en-US" sz="1600" dirty="0">
                <a:solidFill>
                  <a:srgbClr val="D7F5DD"/>
                </a:solidFill>
                <a:latin typeface="IBM Plex Sans" pitchFamily="34" charset="0"/>
                <a:ea typeface="IBM Plex Sans" pitchFamily="34" charset="-122"/>
                <a:cs typeface="IBM Plex Sans" pitchFamily="34" charset="-120"/>
              </a:rPr>
              <a:t>Three prompts. Each one ends with something you can click: a scaffold that runs, a drink that gets logged, a reminder that fires.</a:t>
            </a:r>
            <a:endParaRPr lang="en-US" sz="1600" dirty="0"/>
          </a:p>
        </p:txBody>
      </p:sp>
      <p:sp>
        <p:nvSpPr>
          <p:cNvPr id="5" name="Text 3"/>
          <p:cNvSpPr/>
          <p:nvPr/>
        </p:nvSpPr>
        <p:spPr>
          <a:xfrm>
            <a:off x="812798" y="6254734"/>
            <a:ext cx="10617173" cy="196850"/>
          </a:xfrm>
          <a:prstGeom prst="rect">
            <a:avLst/>
          </a:prstGeom>
          <a:noFill/>
          <a:ln/>
        </p:spPr>
        <p:txBody>
          <a:bodyPr wrap="square" lIns="0" tIns="0" rIns="0" bIns="0" rtlCol="0" anchor="t"/>
          <a:lstStyle/>
          <a:p>
            <a:pPr algn="l" indent="0" marL="0">
              <a:lnSpc>
                <a:spcPts val="1440"/>
              </a:lnSpc>
              <a:buNone/>
            </a:pPr>
            <a:r>
              <a:rPr lang="en-US" sz="1200" dirty="0">
                <a:solidFill>
                  <a:srgbClr val="D7F5DD"/>
                </a:solidFill>
                <a:latin typeface="JetBrains Mono" pitchFamily="34" charset="0"/>
                <a:ea typeface="JetBrains Mono" pitchFamily="34" charset="-122"/>
                <a:cs typeface="JetBrains Mono" pitchFamily="34" charset="-120"/>
              </a:rPr>
              <a:t>part 2 · app building</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F0C"/>
        </a:solidFill>
      </p:bgPr>
    </p:bg>
    <p:spTree>
      <p:nvGrpSpPr>
        <p:cNvPr id="1" name=""/>
        <p:cNvGrpSpPr/>
        <p:nvPr/>
      </p:nvGrpSpPr>
      <p:grpSpPr>
        <a:xfrm>
          <a:off x="0" y="0"/>
          <a:ext cx="0" cy="0"/>
          <a:chOff x="0" y="0"/>
          <a:chExt cx="0" cy="0"/>
        </a:xfrm>
      </p:grpSpPr>
      <p:sp>
        <p:nvSpPr>
          <p:cNvPr id="2" name="Text 0"/>
          <p:cNvSpPr/>
          <p:nvPr/>
        </p:nvSpPr>
        <p:spPr>
          <a:xfrm>
            <a:off x="812798" y="812798"/>
            <a:ext cx="10617173" cy="196850"/>
          </a:xfrm>
          <a:prstGeom prst="rect">
            <a:avLst/>
          </a:prstGeom>
          <a:noFill/>
          <a:ln/>
        </p:spPr>
        <p:txBody>
          <a:bodyPr wrap="square" lIns="0" tIns="0" rIns="0" bIns="0" rtlCol="0" anchor="t"/>
          <a:lstStyle/>
          <a:p>
            <a:pPr algn="l" indent="0" marL="0">
              <a:lnSpc>
                <a:spcPts val="1440"/>
              </a:lnSpc>
              <a:buNone/>
            </a:pPr>
            <a:r>
              <a:rPr lang="en-US" sz="1200" spc="100" kern="0" dirty="0">
                <a:solidFill>
                  <a:srgbClr val="39FF88"/>
                </a:solidFill>
                <a:latin typeface="JetBrains Mono" pitchFamily="34" charset="0"/>
                <a:ea typeface="JetBrains Mono" pitchFamily="34" charset="-122"/>
                <a:cs typeface="JetBrains Mono" pitchFamily="34" charset="-120"/>
              </a:rPr>
              <a:t>// LIVE</a:t>
            </a:r>
            <a:endParaRPr lang="en-US" sz="1200" dirty="0"/>
          </a:p>
        </p:txBody>
      </p:sp>
      <p:sp>
        <p:nvSpPr>
          <p:cNvPr id="3" name="Text 1"/>
          <p:cNvSpPr/>
          <p:nvPr/>
        </p:nvSpPr>
        <p:spPr>
          <a:xfrm>
            <a:off x="812798" y="1263647"/>
            <a:ext cx="10617173" cy="1005679"/>
          </a:xfrm>
          <a:prstGeom prst="rect">
            <a:avLst/>
          </a:prstGeom>
          <a:noFill/>
          <a:ln/>
        </p:spPr>
        <p:txBody>
          <a:bodyPr wrap="square" lIns="0" tIns="0" rIns="0" bIns="0" rtlCol="0" anchor="t"/>
          <a:lstStyle/>
          <a:p>
            <a:pPr algn="l" indent="0" marL="0">
              <a:lnSpc>
                <a:spcPts val="3960"/>
              </a:lnSpc>
              <a:buNone/>
            </a:pPr>
            <a:r>
              <a:rPr lang="en-US" sz="3600" b="1" dirty="0">
                <a:solidFill>
                  <a:srgbClr val="39FF88"/>
                </a:solidFill>
                <a:latin typeface="JetBrains Mono" pitchFamily="34" charset="0"/>
                <a:ea typeface="JetBrains Mono" pitchFamily="34" charset="-122"/>
                <a:cs typeface="JetBrains Mono" pitchFamily="34" charset="-120"/>
              </a:rPr>
              <a:t>~$</a:t>
            </a:r>
            <a:pPr algn="l" indent="0" marL="0">
              <a:lnSpc>
                <a:spcPts val="3960"/>
              </a:lnSpc>
              <a:buNone/>
            </a:pPr>
            <a:r>
              <a:rPr lang="en-US" sz="3600" b="1" dirty="0">
                <a:solidFill>
                  <a:srgbClr val="F4F6F1"/>
                </a:solidFill>
                <a:latin typeface="JetBrains Mono" pitchFamily="34" charset="0"/>
                <a:ea typeface="JetBrains Mono" pitchFamily="34" charset="-122"/>
                <a:cs typeface="JetBrains Mono" pitchFamily="34" charset="-120"/>
              </a:rPr>
              <a:t> Three prompts, three things to click</a:t>
            </a:r>
            <a:endParaRPr lang="en-US" sz="3600" dirty="0"/>
          </a:p>
        </p:txBody>
      </p:sp>
      <p:sp>
        <p:nvSpPr>
          <p:cNvPr id="4" name="Shape 2"/>
          <p:cNvSpPr/>
          <p:nvPr/>
        </p:nvSpPr>
        <p:spPr>
          <a:xfrm>
            <a:off x="812798" y="2523325"/>
            <a:ext cx="10566374" cy="952498"/>
          </a:xfrm>
          <a:prstGeom prst="roundRect">
            <a:avLst>
              <a:gd name="adj" fmla="val 8000"/>
            </a:avLst>
          </a:prstGeom>
          <a:solidFill>
            <a:srgbClr val="111812"/>
          </a:solidFill>
          <a:ln w="9525">
            <a:solidFill>
              <a:srgbClr val="24402C"/>
            </a:solidFill>
            <a:prstDash val="solid"/>
          </a:ln>
        </p:spPr>
      </p:sp>
      <p:sp>
        <p:nvSpPr>
          <p:cNvPr id="5" name="Text 3"/>
          <p:cNvSpPr/>
          <p:nvPr/>
        </p:nvSpPr>
        <p:spPr>
          <a:xfrm>
            <a:off x="1073147" y="2815424"/>
            <a:ext cx="558799" cy="368299"/>
          </a:xfrm>
          <a:prstGeom prst="rect">
            <a:avLst/>
          </a:prstGeom>
          <a:noFill/>
          <a:ln/>
        </p:spPr>
        <p:txBody>
          <a:bodyPr wrap="square" lIns="0" tIns="0" rIns="0" bIns="0" rtlCol="0" anchor="t"/>
          <a:lstStyle/>
          <a:p>
            <a:pPr algn="l" indent="0" marL="0">
              <a:lnSpc>
                <a:spcPts val="2640"/>
              </a:lnSpc>
              <a:buNone/>
            </a:pPr>
            <a:r>
              <a:rPr lang="en-US" sz="2200" b="1" dirty="0">
                <a:solidFill>
                  <a:srgbClr val="39FF88"/>
                </a:solidFill>
                <a:latin typeface="JetBrains Mono" pitchFamily="34" charset="0"/>
                <a:ea typeface="JetBrains Mono" pitchFamily="34" charset="-122"/>
                <a:cs typeface="JetBrains Mono" pitchFamily="34" charset="-120"/>
              </a:rPr>
              <a:t>1</a:t>
            </a:r>
            <a:endParaRPr lang="en-US" sz="2200" dirty="0"/>
          </a:p>
        </p:txBody>
      </p:sp>
      <p:sp>
        <p:nvSpPr>
          <p:cNvPr id="6" name="Text 4"/>
          <p:cNvSpPr/>
          <p:nvPr/>
        </p:nvSpPr>
        <p:spPr>
          <a:xfrm>
            <a:off x="1784346" y="2732874"/>
            <a:ext cx="6515084" cy="533399"/>
          </a:xfrm>
          <a:prstGeom prst="rect">
            <a:avLst/>
          </a:prstGeom>
          <a:noFill/>
          <a:ln/>
        </p:spPr>
        <p:txBody>
          <a:bodyPr wrap="square" lIns="0" tIns="0" rIns="0" bIns="0" rtlCol="0" anchor="t"/>
          <a:lstStyle/>
          <a:p>
            <a:pPr algn="l" indent="0" marL="0">
              <a:lnSpc>
                <a:spcPts val="2100"/>
              </a:lnSpc>
              <a:buNone/>
            </a:pPr>
            <a:r>
              <a:rPr lang="en-US" sz="1500" dirty="0">
                <a:solidFill>
                  <a:srgbClr val="D7F5DD"/>
                </a:solidFill>
                <a:latin typeface="JetBrains Mono" pitchFamily="34" charset="0"/>
                <a:ea typeface="JetBrains Mono" pitchFamily="34" charset="-122"/>
                <a:cs typeface="JetBrains Mono" pitchFamily="34" charset="-120"/>
              </a:rPr>
              <a:t>&gt; Scaffold the project as described in the architecture doc.</a:t>
            </a:r>
            <a:endParaRPr lang="en-US" sz="1500" dirty="0"/>
          </a:p>
        </p:txBody>
      </p:sp>
      <p:sp>
        <p:nvSpPr>
          <p:cNvPr id="7" name="Text 5"/>
          <p:cNvSpPr/>
          <p:nvPr/>
        </p:nvSpPr>
        <p:spPr>
          <a:xfrm>
            <a:off x="8451829" y="2786254"/>
            <a:ext cx="2717793" cy="426640"/>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Ends with: the dev server up and an empty terminal-themed page.</a:t>
            </a:r>
            <a:endParaRPr lang="en-US" sz="1200" dirty="0"/>
          </a:p>
        </p:txBody>
      </p:sp>
      <p:sp>
        <p:nvSpPr>
          <p:cNvPr id="8" name="Shape 6"/>
          <p:cNvSpPr/>
          <p:nvPr/>
        </p:nvSpPr>
        <p:spPr>
          <a:xfrm>
            <a:off x="812798" y="3602822"/>
            <a:ext cx="10566374" cy="845739"/>
          </a:xfrm>
          <a:prstGeom prst="roundRect">
            <a:avLst>
              <a:gd name="adj" fmla="val 9010"/>
            </a:avLst>
          </a:prstGeom>
          <a:solidFill>
            <a:srgbClr val="111812"/>
          </a:solidFill>
          <a:ln w="9525">
            <a:solidFill>
              <a:srgbClr val="24402C"/>
            </a:solidFill>
            <a:prstDash val="solid"/>
          </a:ln>
        </p:spPr>
      </p:sp>
      <p:sp>
        <p:nvSpPr>
          <p:cNvPr id="9" name="Text 7"/>
          <p:cNvSpPr/>
          <p:nvPr/>
        </p:nvSpPr>
        <p:spPr>
          <a:xfrm>
            <a:off x="1073147" y="3841542"/>
            <a:ext cx="558799" cy="368299"/>
          </a:xfrm>
          <a:prstGeom prst="rect">
            <a:avLst/>
          </a:prstGeom>
          <a:noFill/>
          <a:ln/>
        </p:spPr>
        <p:txBody>
          <a:bodyPr wrap="square" lIns="0" tIns="0" rIns="0" bIns="0" rtlCol="0" anchor="t"/>
          <a:lstStyle/>
          <a:p>
            <a:pPr algn="l" indent="0" marL="0">
              <a:lnSpc>
                <a:spcPts val="2640"/>
              </a:lnSpc>
              <a:buNone/>
            </a:pPr>
            <a:r>
              <a:rPr lang="en-US" sz="2200" b="1" dirty="0">
                <a:solidFill>
                  <a:srgbClr val="39FF88"/>
                </a:solidFill>
                <a:latin typeface="JetBrains Mono" pitchFamily="34" charset="0"/>
                <a:ea typeface="JetBrains Mono" pitchFamily="34" charset="-122"/>
                <a:cs typeface="JetBrains Mono" pitchFamily="34" charset="-120"/>
              </a:rPr>
              <a:t>2</a:t>
            </a:r>
            <a:endParaRPr lang="en-US" sz="2200" dirty="0"/>
          </a:p>
        </p:txBody>
      </p:sp>
      <p:sp>
        <p:nvSpPr>
          <p:cNvPr id="10" name="Text 8"/>
          <p:cNvSpPr/>
          <p:nvPr/>
        </p:nvSpPr>
        <p:spPr>
          <a:xfrm>
            <a:off x="1784346" y="3892342"/>
            <a:ext cx="6515084" cy="266699"/>
          </a:xfrm>
          <a:prstGeom prst="rect">
            <a:avLst/>
          </a:prstGeom>
          <a:noFill/>
          <a:ln/>
        </p:spPr>
        <p:txBody>
          <a:bodyPr wrap="square" lIns="0" tIns="0" rIns="0" bIns="0" rtlCol="0" anchor="t"/>
          <a:lstStyle/>
          <a:p>
            <a:pPr algn="l" indent="0" marL="0">
              <a:lnSpc>
                <a:spcPts val="2100"/>
              </a:lnSpc>
              <a:buNone/>
            </a:pPr>
            <a:r>
              <a:rPr lang="en-US" sz="1500" dirty="0">
                <a:solidFill>
                  <a:srgbClr val="D7F5DD"/>
                </a:solidFill>
                <a:latin typeface="JetBrains Mono" pitchFamily="34" charset="0"/>
                <a:ea typeface="JetBrains Mono" pitchFamily="34" charset="-122"/>
                <a:cs typeface="JetBrains Mono" pitchFamily="34" charset="-120"/>
              </a:rPr>
              <a:t>&gt; Build the “log a drink” flow end to end.</a:t>
            </a:r>
            <a:endParaRPr lang="en-US" sz="1500" dirty="0"/>
          </a:p>
        </p:txBody>
      </p:sp>
      <p:sp>
        <p:nvSpPr>
          <p:cNvPr id="11" name="Text 9"/>
          <p:cNvSpPr/>
          <p:nvPr/>
        </p:nvSpPr>
        <p:spPr>
          <a:xfrm>
            <a:off x="8451829" y="3812372"/>
            <a:ext cx="2717793" cy="426640"/>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Ends with: search “coke zero”, log it, the cup fills.</a:t>
            </a:r>
            <a:endParaRPr lang="en-US" sz="1200" dirty="0"/>
          </a:p>
        </p:txBody>
      </p:sp>
      <p:sp>
        <p:nvSpPr>
          <p:cNvPr id="12" name="Shape 10"/>
          <p:cNvSpPr/>
          <p:nvPr/>
        </p:nvSpPr>
        <p:spPr>
          <a:xfrm>
            <a:off x="812798" y="4575560"/>
            <a:ext cx="10566374" cy="845739"/>
          </a:xfrm>
          <a:prstGeom prst="roundRect">
            <a:avLst>
              <a:gd name="adj" fmla="val 9010"/>
            </a:avLst>
          </a:prstGeom>
          <a:solidFill>
            <a:srgbClr val="111812"/>
          </a:solidFill>
          <a:ln w="9525">
            <a:solidFill>
              <a:srgbClr val="24402C"/>
            </a:solidFill>
            <a:prstDash val="solid"/>
          </a:ln>
        </p:spPr>
      </p:sp>
      <p:sp>
        <p:nvSpPr>
          <p:cNvPr id="13" name="Text 11"/>
          <p:cNvSpPr/>
          <p:nvPr/>
        </p:nvSpPr>
        <p:spPr>
          <a:xfrm>
            <a:off x="1073147" y="4814280"/>
            <a:ext cx="558799" cy="368299"/>
          </a:xfrm>
          <a:prstGeom prst="rect">
            <a:avLst/>
          </a:prstGeom>
          <a:noFill/>
          <a:ln/>
        </p:spPr>
        <p:txBody>
          <a:bodyPr wrap="square" lIns="0" tIns="0" rIns="0" bIns="0" rtlCol="0" anchor="t"/>
          <a:lstStyle/>
          <a:p>
            <a:pPr algn="l" indent="0" marL="0">
              <a:lnSpc>
                <a:spcPts val="2640"/>
              </a:lnSpc>
              <a:buNone/>
            </a:pPr>
            <a:r>
              <a:rPr lang="en-US" sz="2200" b="1" dirty="0">
                <a:solidFill>
                  <a:srgbClr val="39FF88"/>
                </a:solidFill>
                <a:latin typeface="JetBrains Mono" pitchFamily="34" charset="0"/>
                <a:ea typeface="JetBrains Mono" pitchFamily="34" charset="-122"/>
                <a:cs typeface="JetBrains Mono" pitchFamily="34" charset="-120"/>
              </a:rPr>
              <a:t>3</a:t>
            </a:r>
            <a:endParaRPr lang="en-US" sz="2200" dirty="0"/>
          </a:p>
        </p:txBody>
      </p:sp>
      <p:sp>
        <p:nvSpPr>
          <p:cNvPr id="14" name="Text 12"/>
          <p:cNvSpPr/>
          <p:nvPr/>
        </p:nvSpPr>
        <p:spPr>
          <a:xfrm>
            <a:off x="1784346" y="4865080"/>
            <a:ext cx="6515084" cy="266699"/>
          </a:xfrm>
          <a:prstGeom prst="rect">
            <a:avLst/>
          </a:prstGeom>
          <a:noFill/>
          <a:ln/>
        </p:spPr>
        <p:txBody>
          <a:bodyPr wrap="square" lIns="0" tIns="0" rIns="0" bIns="0" rtlCol="0" anchor="t"/>
          <a:lstStyle/>
          <a:p>
            <a:pPr algn="l" indent="0" marL="0">
              <a:lnSpc>
                <a:spcPts val="2100"/>
              </a:lnSpc>
              <a:buNone/>
            </a:pPr>
            <a:r>
              <a:rPr lang="en-US" sz="1500" dirty="0">
                <a:solidFill>
                  <a:srgbClr val="D7F5DD"/>
                </a:solidFill>
                <a:latin typeface="JetBrains Mono" pitchFamily="34" charset="0"/>
                <a:ea typeface="JetBrains Mono" pitchFamily="34" charset="-122"/>
                <a:cs typeface="JetBrains Mono" pitchFamily="34" charset="-120"/>
              </a:rPr>
              <a:t>&gt; Add the reminder timer and browser notifications.</a:t>
            </a:r>
            <a:endParaRPr lang="en-US" sz="1500" dirty="0"/>
          </a:p>
        </p:txBody>
      </p:sp>
      <p:sp>
        <p:nvSpPr>
          <p:cNvPr id="15" name="Text 13"/>
          <p:cNvSpPr/>
          <p:nvPr/>
        </p:nvSpPr>
        <p:spPr>
          <a:xfrm>
            <a:off x="8451829" y="4785110"/>
            <a:ext cx="2717793" cy="426640"/>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Ends with: a notification within a minute, in demo mode.</a:t>
            </a:r>
            <a:endParaRPr lang="en-US" sz="1200" dirty="0"/>
          </a:p>
        </p:txBody>
      </p:sp>
      <p:sp>
        <p:nvSpPr>
          <p:cNvPr id="16" name="Text 14"/>
          <p:cNvSpPr/>
          <p:nvPr/>
        </p:nvSpPr>
        <p:spPr>
          <a:xfrm>
            <a:off x="812798" y="6254734"/>
            <a:ext cx="10617173" cy="196850"/>
          </a:xfrm>
          <a:prstGeom prst="rect">
            <a:avLst/>
          </a:prstGeom>
          <a:noFill/>
          <a:ln/>
        </p:spPr>
        <p:txBody>
          <a:bodyPr wrap="square" lIns="0" tIns="0" rIns="0" bIns="0" rtlCol="0" anchor="t"/>
          <a:lstStyle/>
          <a:p>
            <a:pPr algn="l" indent="0" marL="0">
              <a:lnSpc>
                <a:spcPts val="1440"/>
              </a:lnSpc>
              <a:buNone/>
            </a:pPr>
            <a:r>
              <a:rPr lang="en-US" sz="1200" dirty="0">
                <a:solidFill>
                  <a:srgbClr val="86B394"/>
                </a:solidFill>
                <a:latin typeface="JetBrains Mono" pitchFamily="34" charset="0"/>
                <a:ea typeface="JetBrains Mono" pitchFamily="34" charset="-122"/>
                <a:cs typeface="JetBrains Mono" pitchFamily="34" charset="-120"/>
              </a:rPr>
              <a:t>part 2 · app building</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201A"/>
        </a:solidFill>
      </p:bgPr>
    </p:bg>
    <p:spTree>
      <p:nvGrpSpPr>
        <p:cNvPr id="1" name=""/>
        <p:cNvGrpSpPr/>
        <p:nvPr/>
      </p:nvGrpSpPr>
      <p:grpSpPr>
        <a:xfrm>
          <a:off x="0" y="0"/>
          <a:ext cx="0" cy="0"/>
          <a:chOff x="0" y="0"/>
          <a:chExt cx="0" cy="0"/>
        </a:xfrm>
      </p:grpSpPr>
      <p:sp>
        <p:nvSpPr>
          <p:cNvPr id="2" name="Text 0"/>
          <p:cNvSpPr/>
          <p:nvPr/>
        </p:nvSpPr>
        <p:spPr>
          <a:xfrm>
            <a:off x="812798" y="812798"/>
            <a:ext cx="10617173" cy="196850"/>
          </a:xfrm>
          <a:prstGeom prst="rect">
            <a:avLst/>
          </a:prstGeom>
          <a:noFill/>
          <a:ln/>
        </p:spPr>
        <p:txBody>
          <a:bodyPr wrap="square" lIns="0" tIns="0" rIns="0" bIns="0" rtlCol="0" anchor="t"/>
          <a:lstStyle/>
          <a:p>
            <a:pPr algn="l" indent="0" marL="0">
              <a:lnSpc>
                <a:spcPts val="1440"/>
              </a:lnSpc>
              <a:buNone/>
            </a:pPr>
            <a:r>
              <a:rPr lang="en-US" sz="1200" spc="100" kern="0" dirty="0">
                <a:solidFill>
                  <a:srgbClr val="39FF88"/>
                </a:solidFill>
                <a:latin typeface="JetBrains Mono" pitchFamily="34" charset="0"/>
                <a:ea typeface="JetBrains Mono" pitchFamily="34" charset="-122"/>
                <a:cs typeface="JetBrains Mono" pitchFamily="34" charset="-120"/>
              </a:rPr>
              <a:t>// WHAT TO WATCH FOR</a:t>
            </a:r>
            <a:endParaRPr lang="en-US" sz="1200" dirty="0"/>
          </a:p>
        </p:txBody>
      </p:sp>
      <p:sp>
        <p:nvSpPr>
          <p:cNvPr id="3" name="Text 1"/>
          <p:cNvSpPr/>
          <p:nvPr/>
        </p:nvSpPr>
        <p:spPr>
          <a:xfrm>
            <a:off x="812798" y="1263647"/>
            <a:ext cx="10617173" cy="502839"/>
          </a:xfrm>
          <a:prstGeom prst="rect">
            <a:avLst/>
          </a:prstGeom>
          <a:noFill/>
          <a:ln/>
        </p:spPr>
        <p:txBody>
          <a:bodyPr wrap="square" lIns="0" tIns="0" rIns="0" bIns="0" rtlCol="0" anchor="t"/>
          <a:lstStyle/>
          <a:p>
            <a:pPr algn="l" indent="0" marL="0">
              <a:lnSpc>
                <a:spcPts val="3960"/>
              </a:lnSpc>
              <a:buNone/>
            </a:pPr>
            <a:r>
              <a:rPr lang="en-US" sz="3600" b="1" dirty="0">
                <a:solidFill>
                  <a:srgbClr val="39FF88"/>
                </a:solidFill>
                <a:latin typeface="JetBrains Mono" pitchFamily="34" charset="0"/>
                <a:ea typeface="JetBrains Mono" pitchFamily="34" charset="-122"/>
                <a:cs typeface="JetBrains Mono" pitchFamily="34" charset="-120"/>
              </a:rPr>
              <a:t>~$</a:t>
            </a:r>
            <a:pPr algn="l" indent="0" marL="0">
              <a:lnSpc>
                <a:spcPts val="3960"/>
              </a:lnSpc>
              <a:buNone/>
            </a:pPr>
            <a:r>
              <a:rPr lang="en-US" sz="3600" b="1" dirty="0">
                <a:solidFill>
                  <a:srgbClr val="F4F6F1"/>
                </a:solidFill>
                <a:latin typeface="JetBrains Mono" pitchFamily="34" charset="0"/>
                <a:ea typeface="JetBrains Mono" pitchFamily="34" charset="-122"/>
                <a:cs typeface="JetBrains Mono" pitchFamily="34" charset="-120"/>
              </a:rPr>
              <a:t> Four things worth pointing at</a:t>
            </a:r>
            <a:endParaRPr lang="en-US" sz="3600" dirty="0"/>
          </a:p>
        </p:txBody>
      </p:sp>
      <p:sp>
        <p:nvSpPr>
          <p:cNvPr id="4" name="Shape 2"/>
          <p:cNvSpPr/>
          <p:nvPr/>
        </p:nvSpPr>
        <p:spPr>
          <a:xfrm>
            <a:off x="812798" y="2020486"/>
            <a:ext cx="5181587" cy="1655957"/>
          </a:xfrm>
          <a:prstGeom prst="roundRect">
            <a:avLst>
              <a:gd name="adj" fmla="val 4602"/>
            </a:avLst>
          </a:prstGeom>
          <a:solidFill>
            <a:srgbClr val="111812"/>
          </a:solidFill>
          <a:ln w="9525">
            <a:solidFill>
              <a:srgbClr val="24402C"/>
            </a:solidFill>
            <a:prstDash val="solid"/>
          </a:ln>
        </p:spPr>
      </p:sp>
      <p:sp>
        <p:nvSpPr>
          <p:cNvPr id="5" name="Shape 3"/>
          <p:cNvSpPr/>
          <p:nvPr/>
        </p:nvSpPr>
        <p:spPr>
          <a:xfrm>
            <a:off x="1047747" y="2331635"/>
            <a:ext cx="152400" cy="152400"/>
          </a:xfrm>
          <a:prstGeom prst="roundRect">
            <a:avLst>
              <a:gd name="adj" fmla="val 25000"/>
            </a:avLst>
          </a:prstGeom>
          <a:solidFill>
            <a:srgbClr val="39FF88"/>
          </a:solidFill>
          <a:ln/>
        </p:spPr>
      </p:sp>
      <p:sp>
        <p:nvSpPr>
          <p:cNvPr id="6" name="Text 4"/>
          <p:cNvSpPr/>
          <p:nvPr/>
        </p:nvSpPr>
        <p:spPr>
          <a:xfrm>
            <a:off x="1047747" y="2636434"/>
            <a:ext cx="4762488" cy="266699"/>
          </a:xfrm>
          <a:prstGeom prst="rect">
            <a:avLst/>
          </a:prstGeom>
          <a:noFill/>
          <a:ln/>
        </p:spPr>
        <p:txBody>
          <a:bodyPr wrap="square" lIns="0" tIns="0" rIns="0" bIns="0" rtlCol="0" anchor="t"/>
          <a:lstStyle/>
          <a:p>
            <a:pPr algn="l" indent="0" marL="0">
              <a:lnSpc>
                <a:spcPts val="1920"/>
              </a:lnSpc>
              <a:buNone/>
            </a:pPr>
            <a:r>
              <a:rPr lang="en-US" sz="1600" b="1" dirty="0">
                <a:solidFill>
                  <a:srgbClr val="F4F6F1"/>
                </a:solidFill>
                <a:latin typeface="IBM Plex Sans" pitchFamily="34" charset="0"/>
                <a:ea typeface="IBM Plex Sans" pitchFamily="34" charset="-122"/>
                <a:cs typeface="IBM Plex Sans" pitchFamily="34" charset="-120"/>
              </a:rPr>
              <a:t>It reads the memory unprompted</a:t>
            </a:r>
            <a:endParaRPr lang="en-US" sz="1600" dirty="0"/>
          </a:p>
        </p:txBody>
      </p:sp>
      <p:sp>
        <p:nvSpPr>
          <p:cNvPr id="7" name="Text 5"/>
          <p:cNvSpPr/>
          <p:nvPr/>
        </p:nvSpPr>
        <p:spPr>
          <a:xfrm>
            <a:off x="1047747" y="2979333"/>
            <a:ext cx="4762488" cy="462160"/>
          </a:xfrm>
          <a:prstGeom prst="rect">
            <a:avLst/>
          </a:prstGeom>
          <a:noFill/>
          <a:ln/>
        </p:spPr>
        <p:txBody>
          <a:bodyPr wrap="square" lIns="0" tIns="0" rIns="0" bIns="0" rtlCol="0" anchor="t"/>
          <a:lstStyle/>
          <a:p>
            <a:pPr algn="l" indent="0" marL="0">
              <a:lnSpc>
                <a:spcPts val="1820"/>
              </a:lnSpc>
              <a:buNone/>
            </a:pPr>
            <a:r>
              <a:rPr lang="en-US" sz="1300" dirty="0">
                <a:solidFill>
                  <a:srgbClr val="A9C9B3"/>
                </a:solidFill>
                <a:latin typeface="IBM Plex Sans" pitchFamily="34" charset="0"/>
                <a:ea typeface="IBM Plex Sans" pitchFamily="34" charset="-122"/>
                <a:cs typeface="IBM Plex Sans" pitchFamily="34" charset="-120"/>
              </a:rPr>
              <a:t>The project file and the architecture doc get read before the first edit. Nobody pastes the design into the chat.</a:t>
            </a:r>
            <a:endParaRPr lang="en-US" sz="1300" dirty="0"/>
          </a:p>
        </p:txBody>
      </p:sp>
      <p:sp>
        <p:nvSpPr>
          <p:cNvPr id="8" name="Shape 6"/>
          <p:cNvSpPr/>
          <p:nvPr/>
        </p:nvSpPr>
        <p:spPr>
          <a:xfrm>
            <a:off x="6197585" y="2020486"/>
            <a:ext cx="5181587" cy="1655957"/>
          </a:xfrm>
          <a:prstGeom prst="roundRect">
            <a:avLst>
              <a:gd name="adj" fmla="val 4602"/>
            </a:avLst>
          </a:prstGeom>
          <a:solidFill>
            <a:srgbClr val="111812"/>
          </a:solidFill>
          <a:ln w="9525">
            <a:solidFill>
              <a:srgbClr val="24402C"/>
            </a:solidFill>
            <a:prstDash val="solid"/>
          </a:ln>
        </p:spPr>
      </p:sp>
      <p:sp>
        <p:nvSpPr>
          <p:cNvPr id="9" name="Shape 7"/>
          <p:cNvSpPr/>
          <p:nvPr/>
        </p:nvSpPr>
        <p:spPr>
          <a:xfrm>
            <a:off x="6432534" y="2331635"/>
            <a:ext cx="152400" cy="152400"/>
          </a:xfrm>
          <a:prstGeom prst="roundRect">
            <a:avLst>
              <a:gd name="adj" fmla="val 25000"/>
            </a:avLst>
          </a:prstGeom>
          <a:solidFill>
            <a:srgbClr val="39FF88"/>
          </a:solidFill>
          <a:ln/>
        </p:spPr>
      </p:sp>
      <p:sp>
        <p:nvSpPr>
          <p:cNvPr id="10" name="Text 8"/>
          <p:cNvSpPr/>
          <p:nvPr/>
        </p:nvSpPr>
        <p:spPr>
          <a:xfrm>
            <a:off x="6432534" y="2636434"/>
            <a:ext cx="4762488" cy="266699"/>
          </a:xfrm>
          <a:prstGeom prst="rect">
            <a:avLst/>
          </a:prstGeom>
          <a:noFill/>
          <a:ln/>
        </p:spPr>
        <p:txBody>
          <a:bodyPr wrap="square" lIns="0" tIns="0" rIns="0" bIns="0" rtlCol="0" anchor="t"/>
          <a:lstStyle/>
          <a:p>
            <a:pPr algn="l" indent="0" marL="0">
              <a:lnSpc>
                <a:spcPts val="1920"/>
              </a:lnSpc>
              <a:buNone/>
            </a:pPr>
            <a:r>
              <a:rPr lang="en-US" sz="1600" b="1" dirty="0">
                <a:solidFill>
                  <a:srgbClr val="F4F6F1"/>
                </a:solidFill>
                <a:latin typeface="IBM Plex Sans" pitchFamily="34" charset="0"/>
                <a:ea typeface="IBM Plex Sans" pitchFamily="34" charset="-122"/>
                <a:cs typeface="IBM Plex Sans" pitchFamily="34" charset="-120"/>
              </a:rPr>
              <a:t>Two sessions, side by side</a:t>
            </a:r>
            <a:endParaRPr lang="en-US" sz="1600" dirty="0"/>
          </a:p>
        </p:txBody>
      </p:sp>
      <p:sp>
        <p:nvSpPr>
          <p:cNvPr id="11" name="Text 9"/>
          <p:cNvSpPr/>
          <p:nvPr/>
        </p:nvSpPr>
        <p:spPr>
          <a:xfrm>
            <a:off x="6432534" y="2979333"/>
            <a:ext cx="4762488" cy="462160"/>
          </a:xfrm>
          <a:prstGeom prst="rect">
            <a:avLst/>
          </a:prstGeom>
          <a:noFill/>
          <a:ln/>
        </p:spPr>
        <p:txBody>
          <a:bodyPr wrap="square" lIns="0" tIns="0" rIns="0" bIns="0" rtlCol="0" anchor="t"/>
          <a:lstStyle/>
          <a:p>
            <a:pPr algn="l" indent="0" marL="0">
              <a:lnSpc>
                <a:spcPts val="1820"/>
              </a:lnSpc>
              <a:buNone/>
            </a:pPr>
            <a:r>
              <a:rPr lang="en-US" sz="1300" dirty="0">
                <a:solidFill>
                  <a:srgbClr val="A9C9B3"/>
                </a:solidFill>
                <a:latin typeface="IBM Plex Sans" pitchFamily="34" charset="0"/>
                <a:ea typeface="IBM Plex Sans" pitchFamily="34" charset="-122"/>
                <a:cs typeface="IBM Plex Sans" pitchFamily="34" charset="-120"/>
              </a:rPr>
              <a:t>One builds the rules package, another builds the screens. They meet at the interface the design fixed.</a:t>
            </a:r>
            <a:endParaRPr lang="en-US" sz="1300" dirty="0"/>
          </a:p>
        </p:txBody>
      </p:sp>
      <p:sp>
        <p:nvSpPr>
          <p:cNvPr id="12" name="Shape 10"/>
          <p:cNvSpPr/>
          <p:nvPr/>
        </p:nvSpPr>
        <p:spPr>
          <a:xfrm>
            <a:off x="812798" y="3879642"/>
            <a:ext cx="5181587" cy="1655957"/>
          </a:xfrm>
          <a:prstGeom prst="roundRect">
            <a:avLst>
              <a:gd name="adj" fmla="val 4602"/>
            </a:avLst>
          </a:prstGeom>
          <a:solidFill>
            <a:srgbClr val="111812"/>
          </a:solidFill>
          <a:ln w="9525">
            <a:solidFill>
              <a:srgbClr val="24402C"/>
            </a:solidFill>
            <a:prstDash val="solid"/>
          </a:ln>
        </p:spPr>
      </p:sp>
      <p:sp>
        <p:nvSpPr>
          <p:cNvPr id="13" name="Shape 11"/>
          <p:cNvSpPr/>
          <p:nvPr/>
        </p:nvSpPr>
        <p:spPr>
          <a:xfrm>
            <a:off x="1047747" y="4190791"/>
            <a:ext cx="152400" cy="152400"/>
          </a:xfrm>
          <a:prstGeom prst="roundRect">
            <a:avLst>
              <a:gd name="adj" fmla="val 25000"/>
            </a:avLst>
          </a:prstGeom>
          <a:solidFill>
            <a:srgbClr val="39FF88"/>
          </a:solidFill>
          <a:ln/>
        </p:spPr>
      </p:sp>
      <p:sp>
        <p:nvSpPr>
          <p:cNvPr id="14" name="Text 12"/>
          <p:cNvSpPr/>
          <p:nvPr/>
        </p:nvSpPr>
        <p:spPr>
          <a:xfrm>
            <a:off x="1047747" y="4495590"/>
            <a:ext cx="4762488" cy="266699"/>
          </a:xfrm>
          <a:prstGeom prst="rect">
            <a:avLst/>
          </a:prstGeom>
          <a:noFill/>
          <a:ln/>
        </p:spPr>
        <p:txBody>
          <a:bodyPr wrap="square" lIns="0" tIns="0" rIns="0" bIns="0" rtlCol="0" anchor="t"/>
          <a:lstStyle/>
          <a:p>
            <a:pPr algn="l" indent="0" marL="0">
              <a:lnSpc>
                <a:spcPts val="1920"/>
              </a:lnSpc>
              <a:buNone/>
            </a:pPr>
            <a:r>
              <a:rPr lang="en-US" sz="1600" b="1" dirty="0">
                <a:solidFill>
                  <a:srgbClr val="F4F6F1"/>
                </a:solidFill>
                <a:latin typeface="IBM Plex Sans" pitchFamily="34" charset="0"/>
                <a:ea typeface="IBM Plex Sans" pitchFamily="34" charset="-122"/>
                <a:cs typeface="IBM Plex Sans" pitchFamily="34" charset="-120"/>
              </a:rPr>
              <a:t>The in-app browser</a:t>
            </a:r>
            <a:endParaRPr lang="en-US" sz="1600" dirty="0"/>
          </a:p>
        </p:txBody>
      </p:sp>
      <p:sp>
        <p:nvSpPr>
          <p:cNvPr id="15" name="Text 13"/>
          <p:cNvSpPr/>
          <p:nvPr/>
        </p:nvSpPr>
        <p:spPr>
          <a:xfrm>
            <a:off x="1047747" y="4838489"/>
            <a:ext cx="4762488" cy="462160"/>
          </a:xfrm>
          <a:prstGeom prst="rect">
            <a:avLst/>
          </a:prstGeom>
          <a:noFill/>
          <a:ln/>
        </p:spPr>
        <p:txBody>
          <a:bodyPr wrap="square" lIns="0" tIns="0" rIns="0" bIns="0" rtlCol="0" anchor="t"/>
          <a:lstStyle/>
          <a:p>
            <a:pPr algn="l" indent="0" marL="0">
              <a:lnSpc>
                <a:spcPts val="1820"/>
              </a:lnSpc>
              <a:buNone/>
            </a:pPr>
            <a:r>
              <a:rPr lang="en-US" sz="1300" dirty="0">
                <a:solidFill>
                  <a:srgbClr val="A9C9B3"/>
                </a:solidFill>
                <a:latin typeface="IBM Plex Sans" pitchFamily="34" charset="0"/>
                <a:ea typeface="IBM Plex Sans" pitchFamily="34" charset="-122"/>
                <a:cs typeface="IBM Plex Sans" pitchFamily="34" charset="-120"/>
              </a:rPr>
              <a:t>The running app previewed inside Claude Code: it clicks, reads the page, and finds what the code alone would not.</a:t>
            </a:r>
            <a:endParaRPr lang="en-US" sz="1300" dirty="0"/>
          </a:p>
        </p:txBody>
      </p:sp>
      <p:sp>
        <p:nvSpPr>
          <p:cNvPr id="16" name="Shape 14"/>
          <p:cNvSpPr/>
          <p:nvPr/>
        </p:nvSpPr>
        <p:spPr>
          <a:xfrm>
            <a:off x="6197585" y="3879642"/>
            <a:ext cx="5181587" cy="1655957"/>
          </a:xfrm>
          <a:prstGeom prst="roundRect">
            <a:avLst>
              <a:gd name="adj" fmla="val 4602"/>
            </a:avLst>
          </a:prstGeom>
          <a:solidFill>
            <a:srgbClr val="111812"/>
          </a:solidFill>
          <a:ln w="9525">
            <a:solidFill>
              <a:srgbClr val="24402C"/>
            </a:solidFill>
            <a:prstDash val="solid"/>
          </a:ln>
        </p:spPr>
      </p:sp>
      <p:sp>
        <p:nvSpPr>
          <p:cNvPr id="17" name="Shape 15"/>
          <p:cNvSpPr/>
          <p:nvPr/>
        </p:nvSpPr>
        <p:spPr>
          <a:xfrm>
            <a:off x="6432534" y="4190791"/>
            <a:ext cx="152400" cy="152400"/>
          </a:xfrm>
          <a:prstGeom prst="roundRect">
            <a:avLst>
              <a:gd name="adj" fmla="val 25000"/>
            </a:avLst>
          </a:prstGeom>
          <a:solidFill>
            <a:srgbClr val="39FF88"/>
          </a:solidFill>
          <a:ln/>
        </p:spPr>
      </p:sp>
      <p:sp>
        <p:nvSpPr>
          <p:cNvPr id="18" name="Text 16"/>
          <p:cNvSpPr/>
          <p:nvPr/>
        </p:nvSpPr>
        <p:spPr>
          <a:xfrm>
            <a:off x="6432534" y="4495590"/>
            <a:ext cx="4762488" cy="266699"/>
          </a:xfrm>
          <a:prstGeom prst="rect">
            <a:avLst/>
          </a:prstGeom>
          <a:noFill/>
          <a:ln/>
        </p:spPr>
        <p:txBody>
          <a:bodyPr wrap="square" lIns="0" tIns="0" rIns="0" bIns="0" rtlCol="0" anchor="t"/>
          <a:lstStyle/>
          <a:p>
            <a:pPr algn="l" indent="0" marL="0">
              <a:lnSpc>
                <a:spcPts val="1920"/>
              </a:lnSpc>
              <a:buNone/>
            </a:pPr>
            <a:r>
              <a:rPr lang="en-US" sz="1600" b="1" dirty="0">
                <a:solidFill>
                  <a:srgbClr val="F4F6F1"/>
                </a:solidFill>
                <a:latin typeface="IBM Plex Sans" pitchFamily="34" charset="0"/>
                <a:ea typeface="IBM Plex Sans" pitchFamily="34" charset="-122"/>
                <a:cs typeface="IBM Plex Sans" pitchFamily="34" charset="-120"/>
              </a:rPr>
              <a:t>A reminder, on stage, in a minute</a:t>
            </a:r>
            <a:endParaRPr lang="en-US" sz="1600" dirty="0"/>
          </a:p>
        </p:txBody>
      </p:sp>
      <p:sp>
        <p:nvSpPr>
          <p:cNvPr id="19" name="Text 17"/>
          <p:cNvSpPr/>
          <p:nvPr/>
        </p:nvSpPr>
        <p:spPr>
          <a:xfrm>
            <a:off x="6432534" y="4838489"/>
            <a:ext cx="4762488" cy="462160"/>
          </a:xfrm>
          <a:prstGeom prst="rect">
            <a:avLst/>
          </a:prstGeom>
          <a:noFill/>
          <a:ln/>
        </p:spPr>
        <p:txBody>
          <a:bodyPr wrap="square" lIns="0" tIns="0" rIns="0" bIns="0" rtlCol="0" anchor="t"/>
          <a:lstStyle/>
          <a:p>
            <a:pPr algn="l" indent="0" marL="0">
              <a:lnSpc>
                <a:spcPts val="1820"/>
              </a:lnSpc>
              <a:buNone/>
            </a:pPr>
            <a:r>
              <a:rPr lang="en-US" sz="1300" dirty="0">
                <a:solidFill>
                  <a:srgbClr val="A9C9B3"/>
                </a:solidFill>
                <a:latin typeface="IBM Plex Sans" pitchFamily="34" charset="0"/>
                <a:ea typeface="IBM Plex Sans" pitchFamily="34" charset="-122"/>
                <a:cs typeface="IBM Plex Sans" pitchFamily="34" charset="-120"/>
              </a:rPr>
              <a:t>Demo mode shortens the gap to a minute and checks every ten seconds. The design asked for it; the build keeps it.</a:t>
            </a:r>
            <a:endParaRPr lang="en-US" sz="1300" dirty="0"/>
          </a:p>
        </p:txBody>
      </p:sp>
      <p:sp>
        <p:nvSpPr>
          <p:cNvPr id="20" name="Text 18"/>
          <p:cNvSpPr/>
          <p:nvPr/>
        </p:nvSpPr>
        <p:spPr>
          <a:xfrm>
            <a:off x="812798" y="6254734"/>
            <a:ext cx="10617173" cy="196850"/>
          </a:xfrm>
          <a:prstGeom prst="rect">
            <a:avLst/>
          </a:prstGeom>
          <a:noFill/>
          <a:ln/>
        </p:spPr>
        <p:txBody>
          <a:bodyPr wrap="square" lIns="0" tIns="0" rIns="0" bIns="0" rtlCol="0" anchor="t"/>
          <a:lstStyle/>
          <a:p>
            <a:pPr algn="l" indent="0" marL="0">
              <a:lnSpc>
                <a:spcPts val="1440"/>
              </a:lnSpc>
              <a:buNone/>
            </a:pPr>
            <a:r>
              <a:rPr lang="en-US" sz="1200" dirty="0">
                <a:solidFill>
                  <a:srgbClr val="86B394"/>
                </a:solidFill>
                <a:latin typeface="JetBrains Mono" pitchFamily="34" charset="0"/>
                <a:ea typeface="JetBrains Mono" pitchFamily="34" charset="-122"/>
                <a:cs typeface="JetBrains Mono" pitchFamily="34" charset="-120"/>
              </a:rPr>
              <a:t>part 2 · app building</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F0C"/>
        </a:solidFill>
      </p:bgPr>
    </p:bg>
    <p:spTree>
      <p:nvGrpSpPr>
        <p:cNvPr id="1" name=""/>
        <p:cNvGrpSpPr/>
        <p:nvPr/>
      </p:nvGrpSpPr>
      <p:grpSpPr>
        <a:xfrm>
          <a:off x="0" y="0"/>
          <a:ext cx="0" cy="0"/>
          <a:chOff x="0" y="0"/>
          <a:chExt cx="0" cy="0"/>
        </a:xfrm>
      </p:grpSpPr>
      <p:sp>
        <p:nvSpPr>
          <p:cNvPr id="2" name="Text 0"/>
          <p:cNvSpPr/>
          <p:nvPr/>
        </p:nvSpPr>
        <p:spPr>
          <a:xfrm>
            <a:off x="812798" y="812798"/>
            <a:ext cx="10617173" cy="196850"/>
          </a:xfrm>
          <a:prstGeom prst="rect">
            <a:avLst/>
          </a:prstGeom>
          <a:noFill/>
          <a:ln/>
        </p:spPr>
        <p:txBody>
          <a:bodyPr wrap="square" lIns="0" tIns="0" rIns="0" bIns="0" rtlCol="0" anchor="t"/>
          <a:lstStyle/>
          <a:p>
            <a:pPr algn="l" indent="0" marL="0">
              <a:lnSpc>
                <a:spcPts val="1440"/>
              </a:lnSpc>
              <a:buNone/>
            </a:pPr>
            <a:r>
              <a:rPr lang="en-US" sz="1200" spc="100" kern="0" dirty="0">
                <a:solidFill>
                  <a:srgbClr val="39FF88"/>
                </a:solidFill>
                <a:latin typeface="JetBrains Mono" pitchFamily="34" charset="0"/>
                <a:ea typeface="JetBrains Mono" pitchFamily="34" charset="-122"/>
                <a:cs typeface="JetBrains Mono" pitchFamily="34" charset="-120"/>
              </a:rPr>
              <a:t>// HOW THE BUILD IS SPLIT</a:t>
            </a:r>
            <a:endParaRPr lang="en-US" sz="1200" dirty="0"/>
          </a:p>
        </p:txBody>
      </p:sp>
      <p:sp>
        <p:nvSpPr>
          <p:cNvPr id="3" name="Text 1"/>
          <p:cNvSpPr/>
          <p:nvPr/>
        </p:nvSpPr>
        <p:spPr>
          <a:xfrm>
            <a:off x="812798" y="1263647"/>
            <a:ext cx="10617173" cy="1005679"/>
          </a:xfrm>
          <a:prstGeom prst="rect">
            <a:avLst/>
          </a:prstGeom>
          <a:noFill/>
          <a:ln/>
        </p:spPr>
        <p:txBody>
          <a:bodyPr wrap="square" lIns="0" tIns="0" rIns="0" bIns="0" rtlCol="0" anchor="t"/>
          <a:lstStyle/>
          <a:p>
            <a:pPr algn="l" indent="0" marL="0">
              <a:lnSpc>
                <a:spcPts val="3960"/>
              </a:lnSpc>
              <a:buNone/>
            </a:pPr>
            <a:r>
              <a:rPr lang="en-US" sz="3600" b="1" dirty="0">
                <a:solidFill>
                  <a:srgbClr val="39FF88"/>
                </a:solidFill>
                <a:latin typeface="JetBrains Mono" pitchFamily="34" charset="0"/>
                <a:ea typeface="JetBrains Mono" pitchFamily="34" charset="-122"/>
                <a:cs typeface="JetBrains Mono" pitchFamily="34" charset="-120"/>
              </a:rPr>
              <a:t>~$</a:t>
            </a:r>
            <a:pPr algn="l" indent="0" marL="0">
              <a:lnSpc>
                <a:spcPts val="3960"/>
              </a:lnSpc>
              <a:buNone/>
            </a:pPr>
            <a:r>
              <a:rPr lang="en-US" sz="3600" b="1" dirty="0">
                <a:solidFill>
                  <a:srgbClr val="F4F6F1"/>
                </a:solidFill>
                <a:latin typeface="JetBrains Mono" pitchFamily="34" charset="0"/>
                <a:ea typeface="JetBrains Mono" pitchFamily="34" charset="-122"/>
                <a:cs typeface="JetBrains Mono" pitchFamily="34" charset="-120"/>
              </a:rPr>
              <a:t> Rules in one package, screens in another</a:t>
            </a:r>
            <a:endParaRPr lang="en-US" sz="3600" dirty="0"/>
          </a:p>
        </p:txBody>
      </p:sp>
      <p:sp>
        <p:nvSpPr>
          <p:cNvPr id="4" name="Shape 2"/>
          <p:cNvSpPr/>
          <p:nvPr/>
        </p:nvSpPr>
        <p:spPr>
          <a:xfrm>
            <a:off x="812798" y="2523325"/>
            <a:ext cx="5187937" cy="2537414"/>
          </a:xfrm>
          <a:prstGeom prst="roundRect">
            <a:avLst>
              <a:gd name="adj" fmla="val 3003"/>
            </a:avLst>
          </a:prstGeom>
          <a:solidFill>
            <a:srgbClr val="16201A"/>
          </a:solidFill>
          <a:ln w="12700">
            <a:solidFill>
              <a:srgbClr val="39FF88"/>
            </a:solidFill>
            <a:prstDash val="solid"/>
          </a:ln>
        </p:spPr>
      </p:sp>
      <p:sp>
        <p:nvSpPr>
          <p:cNvPr id="5" name="Text 3"/>
          <p:cNvSpPr/>
          <p:nvPr/>
        </p:nvSpPr>
        <p:spPr>
          <a:xfrm>
            <a:off x="1079497" y="2790024"/>
            <a:ext cx="4705338" cy="253999"/>
          </a:xfrm>
          <a:prstGeom prst="rect">
            <a:avLst/>
          </a:prstGeom>
          <a:noFill/>
          <a:ln/>
        </p:spPr>
        <p:txBody>
          <a:bodyPr wrap="square" lIns="0" tIns="0" rIns="0" bIns="0" rtlCol="0" anchor="t"/>
          <a:lstStyle/>
          <a:p>
            <a:pPr algn="l" indent="0" marL="0">
              <a:lnSpc>
                <a:spcPts val="1800"/>
              </a:lnSpc>
              <a:buNone/>
            </a:pPr>
            <a:r>
              <a:rPr lang="en-US" sz="1500" b="1" dirty="0">
                <a:solidFill>
                  <a:srgbClr val="39FF88"/>
                </a:solidFill>
                <a:latin typeface="JetBrains Mono" pitchFamily="34" charset="0"/>
                <a:ea typeface="JetBrains Mono" pitchFamily="34" charset="-122"/>
                <a:cs typeface="JetBrains Mono" pitchFamily="34" charset="-120"/>
              </a:rPr>
              <a:t>packages/core</a:t>
            </a:r>
            <a:endParaRPr lang="en-US" sz="1500" dirty="0"/>
          </a:p>
        </p:txBody>
      </p:sp>
      <p:sp>
        <p:nvSpPr>
          <p:cNvPr id="6" name="Text 4"/>
          <p:cNvSpPr/>
          <p:nvPr/>
        </p:nvSpPr>
        <p:spPr>
          <a:xfrm>
            <a:off x="1079497" y="3145623"/>
            <a:ext cx="4705338" cy="1333497"/>
          </a:xfrm>
          <a:prstGeom prst="rect">
            <a:avLst/>
          </a:prstGeom>
          <a:noFill/>
          <a:ln/>
        </p:spPr>
        <p:txBody>
          <a:bodyPr wrap="square" lIns="0" tIns="0" rIns="0" bIns="0" rtlCol="0" anchor="t"/>
          <a:lstStyle/>
          <a:p>
            <a:pPr algn="l" marL="228600" indent="-228600">
              <a:lnSpc>
                <a:spcPts val="2100"/>
              </a:lnSpc>
              <a:buSzPct val="100000"/>
              <a:buChar char="•"/>
            </a:pPr>
            <a:r>
              <a:rPr lang="en-US" sz="1400" dirty="0">
                <a:solidFill>
                  <a:srgbClr val="D7F5DD"/>
                </a:solidFill>
                <a:latin typeface="IBM Plex Sans" pitchFamily="34" charset="0"/>
                <a:ea typeface="IBM Plex Sans" pitchFamily="34" charset="-122"/>
                <a:cs typeface="IBM Plex Sans" pitchFamily="34" charset="-120"/>
              </a:rPr>
              <a:t>The reminder decision and “next reminder at”</a:t>
            </a:r>
            <a:endParaRPr lang="en-US" sz="1400" dirty="0"/>
          </a:p>
          <a:p>
            <a:pPr algn="l" marL="228600" indent="-228600">
              <a:lnSpc>
                <a:spcPts val="2100"/>
              </a:lnSpc>
              <a:buSzPct val="100000"/>
              <a:buChar char="•"/>
            </a:pPr>
            <a:r>
              <a:rPr lang="en-US" sz="1400" dirty="0">
                <a:solidFill>
                  <a:srgbClr val="D7F5DD"/>
                </a:solidFill>
                <a:latin typeface="IBM Plex Sans" pitchFamily="34" charset="0"/>
                <a:ea typeface="IBM Plex Sans" pitchFamily="34" charset="-122"/>
                <a:cs typeface="IBM Plex Sans" pitchFamily="34" charset="-120"/>
              </a:rPr>
              <a:t>Time zone maths on the built-in Intl API</a:t>
            </a:r>
            <a:endParaRPr lang="en-US" sz="1400" dirty="0"/>
          </a:p>
          <a:p>
            <a:pPr algn="l" marL="228600" indent="-228600">
              <a:lnSpc>
                <a:spcPts val="2100"/>
              </a:lnSpc>
              <a:buSzPct val="100000"/>
              <a:buChar char="•"/>
            </a:pPr>
            <a:r>
              <a:rPr lang="en-US" sz="1400" dirty="0">
                <a:solidFill>
                  <a:srgbClr val="D7F5DD"/>
                </a:solidFill>
                <a:latin typeface="IBM Plex Sans" pitchFamily="34" charset="0"/>
                <a:ea typeface="IBM Plex Sans" pitchFamily="34" charset="-122"/>
                <a:cs typeface="IBM Plex Sans" pitchFamily="34" charset="-120"/>
              </a:rPr>
              <a:t>Typo-tolerant drink search, a source per drink</a:t>
            </a:r>
            <a:endParaRPr lang="en-US" sz="1400" dirty="0"/>
          </a:p>
          <a:p>
            <a:pPr algn="l" marL="228600" indent="-228600">
              <a:lnSpc>
                <a:spcPts val="2100"/>
              </a:lnSpc>
              <a:buSzPct val="100000"/>
              <a:buChar char="•"/>
            </a:pPr>
            <a:r>
              <a:rPr lang="en-US" sz="1400" dirty="0">
                <a:solidFill>
                  <a:srgbClr val="D7F5DD"/>
                </a:solidFill>
                <a:latin typeface="IBM Plex Sans" pitchFamily="34" charset="0"/>
                <a:ea typeface="IBM Plex Sans" pitchFamily="34" charset="-122"/>
                <a:cs typeface="IBM Plex Sans" pitchFamily="34" charset="-120"/>
              </a:rPr>
              <a:t>The store interface and an in-memory store</a:t>
            </a:r>
            <a:endParaRPr lang="en-US" sz="1400" dirty="0"/>
          </a:p>
          <a:p>
            <a:pPr algn="l" marL="228600" indent="-228600">
              <a:lnSpc>
                <a:spcPts val="2100"/>
              </a:lnSpc>
              <a:buSzPct val="100000"/>
              <a:buChar char="•"/>
            </a:pPr>
            <a:r>
              <a:rPr lang="en-US" sz="1400" dirty="0">
                <a:solidFill>
                  <a:srgbClr val="D7F5DD"/>
                </a:solidFill>
                <a:latin typeface="IBM Plex Sans" pitchFamily="34" charset="0"/>
                <a:ea typeface="IBM Plex Sans" pitchFamily="34" charset="-122"/>
                <a:cs typeface="IBM Plex Sans" pitchFamily="34" charset="-120"/>
              </a:rPr>
              <a:t>Contract tests every store must pass</a:t>
            </a:r>
            <a:endParaRPr lang="en-US" sz="1400" dirty="0"/>
          </a:p>
        </p:txBody>
      </p:sp>
      <p:sp>
        <p:nvSpPr>
          <p:cNvPr id="7" name="Text 5"/>
          <p:cNvSpPr/>
          <p:nvPr/>
        </p:nvSpPr>
        <p:spPr>
          <a:xfrm>
            <a:off x="1079497" y="4580720"/>
            <a:ext cx="4705338" cy="213320"/>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No clock, no storage, no browser. Time is passed in.</a:t>
            </a:r>
            <a:endParaRPr lang="en-US" sz="1200" dirty="0"/>
          </a:p>
        </p:txBody>
      </p:sp>
      <p:sp>
        <p:nvSpPr>
          <p:cNvPr id="8" name="Shape 6"/>
          <p:cNvSpPr/>
          <p:nvPr/>
        </p:nvSpPr>
        <p:spPr>
          <a:xfrm>
            <a:off x="6203934" y="2523325"/>
            <a:ext cx="5175237" cy="2537414"/>
          </a:xfrm>
          <a:prstGeom prst="roundRect">
            <a:avLst>
              <a:gd name="adj" fmla="val 3003"/>
            </a:avLst>
          </a:prstGeom>
          <a:solidFill>
            <a:srgbClr val="111812"/>
          </a:solidFill>
          <a:ln w="9525">
            <a:solidFill>
              <a:srgbClr val="24402C"/>
            </a:solidFill>
            <a:prstDash val="solid"/>
          </a:ln>
        </p:spPr>
      </p:sp>
      <p:sp>
        <p:nvSpPr>
          <p:cNvPr id="9" name="Text 7"/>
          <p:cNvSpPr/>
          <p:nvPr/>
        </p:nvSpPr>
        <p:spPr>
          <a:xfrm>
            <a:off x="6464284" y="2783674"/>
            <a:ext cx="4705338" cy="253999"/>
          </a:xfrm>
          <a:prstGeom prst="rect">
            <a:avLst/>
          </a:prstGeom>
          <a:noFill/>
          <a:ln/>
        </p:spPr>
        <p:txBody>
          <a:bodyPr wrap="square" lIns="0" tIns="0" rIns="0" bIns="0" rtlCol="0" anchor="t"/>
          <a:lstStyle/>
          <a:p>
            <a:pPr algn="l" indent="0" marL="0">
              <a:lnSpc>
                <a:spcPts val="1800"/>
              </a:lnSpc>
              <a:buNone/>
            </a:pPr>
            <a:r>
              <a:rPr lang="en-US" sz="1500" b="1" dirty="0">
                <a:solidFill>
                  <a:srgbClr val="86B394"/>
                </a:solidFill>
                <a:latin typeface="JetBrains Mono" pitchFamily="34" charset="0"/>
                <a:ea typeface="JetBrains Mono" pitchFamily="34" charset="-122"/>
                <a:cs typeface="JetBrains Mono" pitchFamily="34" charset="-120"/>
              </a:rPr>
              <a:t>apps/web</a:t>
            </a:r>
            <a:endParaRPr lang="en-US" sz="1500" dirty="0"/>
          </a:p>
        </p:txBody>
      </p:sp>
      <p:sp>
        <p:nvSpPr>
          <p:cNvPr id="10" name="Text 8"/>
          <p:cNvSpPr/>
          <p:nvPr/>
        </p:nvSpPr>
        <p:spPr>
          <a:xfrm>
            <a:off x="6464284" y="3139273"/>
            <a:ext cx="4705338" cy="1333497"/>
          </a:xfrm>
          <a:prstGeom prst="rect">
            <a:avLst/>
          </a:prstGeom>
          <a:noFill/>
          <a:ln/>
        </p:spPr>
        <p:txBody>
          <a:bodyPr wrap="square" lIns="0" tIns="0" rIns="0" bIns="0" rtlCol="0" anchor="t"/>
          <a:lstStyle/>
          <a:p>
            <a:pPr algn="l" marL="228600" indent="-228600">
              <a:lnSpc>
                <a:spcPts val="2100"/>
              </a:lnSpc>
              <a:buSzPct val="100000"/>
              <a:buChar char="•"/>
            </a:pPr>
            <a:r>
              <a:rPr lang="en-US" sz="1400" dirty="0">
                <a:solidFill>
                  <a:srgbClr val="D7F5DD"/>
                </a:solidFill>
                <a:latin typeface="IBM Plex Sans" pitchFamily="34" charset="0"/>
                <a:ea typeface="IBM Plex Sans" pitchFamily="34" charset="-122"/>
                <a:cs typeface="IBM Plex Sans" pitchFamily="34" charset="-120"/>
              </a:rPr>
              <a:t>Today, Calendar and Settings screens</a:t>
            </a:r>
            <a:endParaRPr lang="en-US" sz="1400" dirty="0"/>
          </a:p>
          <a:p>
            <a:pPr algn="l" marL="228600" indent="-228600">
              <a:lnSpc>
                <a:spcPts val="2100"/>
              </a:lnSpc>
              <a:buSzPct val="100000"/>
              <a:buChar char="•"/>
            </a:pPr>
            <a:r>
              <a:rPr lang="en-US" sz="1400" dirty="0">
                <a:solidFill>
                  <a:srgbClr val="D7F5DD"/>
                </a:solidFill>
                <a:latin typeface="IBM Plex Sans" pitchFamily="34" charset="0"/>
                <a:ea typeface="IBM Plex Sans" pitchFamily="34" charset="-122"/>
                <a:cs typeface="IBM Plex Sans" pitchFamily="34" charset="-120"/>
              </a:rPr>
              <a:t>The terminal theme as colour tokens, light and dark</a:t>
            </a:r>
            <a:endParaRPr lang="en-US" sz="1400" dirty="0"/>
          </a:p>
          <a:p>
            <a:pPr algn="l" marL="228600" indent="-228600">
              <a:lnSpc>
                <a:spcPts val="2100"/>
              </a:lnSpc>
              <a:buSzPct val="100000"/>
              <a:buChar char="•"/>
            </a:pPr>
            <a:r>
              <a:rPr lang="en-US" sz="1400" dirty="0">
                <a:solidFill>
                  <a:srgbClr val="D7F5DD"/>
                </a:solidFill>
                <a:latin typeface="IBM Plex Sans" pitchFamily="34" charset="0"/>
                <a:ea typeface="IBM Plex Sans" pitchFamily="34" charset="-122"/>
                <a:cs typeface="IBM Plex Sans" pitchFamily="34" charset="-120"/>
              </a:rPr>
              <a:t>The localStorage store, behind a provider hook</a:t>
            </a:r>
            <a:endParaRPr lang="en-US" sz="1400" dirty="0"/>
          </a:p>
          <a:p>
            <a:pPr algn="l" marL="228600" indent="-228600">
              <a:lnSpc>
                <a:spcPts val="2100"/>
              </a:lnSpc>
              <a:buSzPct val="100000"/>
              <a:buChar char="•"/>
            </a:pPr>
            <a:r>
              <a:rPr lang="en-US" sz="1400" dirty="0">
                <a:solidFill>
                  <a:srgbClr val="D7F5DD"/>
                </a:solidFill>
                <a:latin typeface="IBM Plex Sans" pitchFamily="34" charset="0"/>
                <a:ea typeface="IBM Plex Sans" pitchFamily="34" charset="-122"/>
                <a:cs typeface="IBM Plex Sans" pitchFamily="34" charset="-120"/>
              </a:rPr>
              <a:t>The timer: every minute, and when the tab wakes</a:t>
            </a:r>
            <a:endParaRPr lang="en-US" sz="1400" dirty="0"/>
          </a:p>
          <a:p>
            <a:pPr algn="l" marL="228600" indent="-228600">
              <a:lnSpc>
                <a:spcPts val="2100"/>
              </a:lnSpc>
              <a:buSzPct val="100000"/>
              <a:buChar char="•"/>
            </a:pPr>
            <a:r>
              <a:rPr lang="en-US" sz="1400" dirty="0">
                <a:solidFill>
                  <a:srgbClr val="D7F5DD"/>
                </a:solidFill>
                <a:latin typeface="IBM Plex Sans" pitchFamily="34" charset="0"/>
                <a:ea typeface="IBM Plex Sans" pitchFamily="34" charset="-122"/>
                <a:cs typeface="IBM Plex Sans" pitchFamily="34" charset="-120"/>
              </a:rPr>
              <a:t>Notifications, with an in-page banner fallback</a:t>
            </a:r>
            <a:endParaRPr lang="en-US" sz="1400" dirty="0"/>
          </a:p>
        </p:txBody>
      </p:sp>
      <p:sp>
        <p:nvSpPr>
          <p:cNvPr id="11" name="Text 9"/>
          <p:cNvSpPr/>
          <p:nvPr/>
        </p:nvSpPr>
        <p:spPr>
          <a:xfrm>
            <a:off x="6464284" y="4574370"/>
            <a:ext cx="4705338" cy="213320"/>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Only wiring. Business rules never live here.</a:t>
            </a:r>
            <a:endParaRPr lang="en-US" sz="1200" dirty="0"/>
          </a:p>
        </p:txBody>
      </p:sp>
      <p:sp>
        <p:nvSpPr>
          <p:cNvPr id="12" name="Text 10"/>
          <p:cNvSpPr/>
          <p:nvPr/>
        </p:nvSpPr>
        <p:spPr>
          <a:xfrm>
            <a:off x="812798" y="6254734"/>
            <a:ext cx="10617173" cy="196850"/>
          </a:xfrm>
          <a:prstGeom prst="rect">
            <a:avLst/>
          </a:prstGeom>
          <a:noFill/>
          <a:ln/>
        </p:spPr>
        <p:txBody>
          <a:bodyPr wrap="square" lIns="0" tIns="0" rIns="0" bIns="0" rtlCol="0" anchor="t"/>
          <a:lstStyle/>
          <a:p>
            <a:pPr algn="l" indent="0" marL="0">
              <a:lnSpc>
                <a:spcPts val="1440"/>
              </a:lnSpc>
              <a:buNone/>
            </a:pPr>
            <a:r>
              <a:rPr lang="en-US" sz="1200" dirty="0">
                <a:solidFill>
                  <a:srgbClr val="86B394"/>
                </a:solidFill>
                <a:latin typeface="JetBrains Mono" pitchFamily="34" charset="0"/>
                <a:ea typeface="JetBrains Mono" pitchFamily="34" charset="-122"/>
                <a:cs typeface="JetBrains Mono" pitchFamily="34" charset="-120"/>
              </a:rPr>
              <a:t>part 2 · app building</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F0C"/>
        </a:solidFill>
      </p:bgPr>
    </p:bg>
    <p:spTree>
      <p:nvGrpSpPr>
        <p:cNvPr id="1" name=""/>
        <p:cNvGrpSpPr/>
        <p:nvPr/>
      </p:nvGrpSpPr>
      <p:grpSpPr>
        <a:xfrm>
          <a:off x="0" y="0"/>
          <a:ext cx="0" cy="0"/>
          <a:chOff x="0" y="0"/>
          <a:chExt cx="0" cy="0"/>
        </a:xfrm>
      </p:grpSpPr>
      <p:sp>
        <p:nvSpPr>
          <p:cNvPr id="2" name="Text 0"/>
          <p:cNvSpPr/>
          <p:nvPr/>
        </p:nvSpPr>
        <p:spPr>
          <a:xfrm>
            <a:off x="812798" y="812798"/>
            <a:ext cx="10617173" cy="196850"/>
          </a:xfrm>
          <a:prstGeom prst="rect">
            <a:avLst/>
          </a:prstGeom>
          <a:noFill/>
          <a:ln/>
        </p:spPr>
        <p:txBody>
          <a:bodyPr wrap="square" lIns="0" tIns="0" rIns="0" bIns="0" rtlCol="0" anchor="t"/>
          <a:lstStyle/>
          <a:p>
            <a:pPr algn="l" indent="0" marL="0">
              <a:lnSpc>
                <a:spcPts val="1440"/>
              </a:lnSpc>
              <a:buNone/>
            </a:pPr>
            <a:r>
              <a:rPr lang="en-US" sz="1200" spc="100" kern="0" dirty="0">
                <a:solidFill>
                  <a:srgbClr val="39FF88"/>
                </a:solidFill>
                <a:latin typeface="JetBrains Mono" pitchFamily="34" charset="0"/>
                <a:ea typeface="JetBrains Mono" pitchFamily="34" charset="-122"/>
                <a:cs typeface="JetBrains Mono" pitchFamily="34" charset="-120"/>
              </a:rPr>
              <a:t>// THE RULES PACKAGE</a:t>
            </a:r>
            <a:endParaRPr lang="en-US" sz="1200" dirty="0"/>
          </a:p>
        </p:txBody>
      </p:sp>
      <p:sp>
        <p:nvSpPr>
          <p:cNvPr id="3" name="Text 1"/>
          <p:cNvSpPr/>
          <p:nvPr/>
        </p:nvSpPr>
        <p:spPr>
          <a:xfrm>
            <a:off x="812798" y="1263647"/>
            <a:ext cx="10617173" cy="502839"/>
          </a:xfrm>
          <a:prstGeom prst="rect">
            <a:avLst/>
          </a:prstGeom>
          <a:noFill/>
          <a:ln/>
        </p:spPr>
        <p:txBody>
          <a:bodyPr wrap="square" lIns="0" tIns="0" rIns="0" bIns="0" rtlCol="0" anchor="t"/>
          <a:lstStyle/>
          <a:p>
            <a:pPr algn="l" indent="0" marL="0">
              <a:lnSpc>
                <a:spcPts val="3960"/>
              </a:lnSpc>
              <a:buNone/>
            </a:pPr>
            <a:r>
              <a:rPr lang="en-US" sz="3600" b="1" dirty="0">
                <a:solidFill>
                  <a:srgbClr val="39FF88"/>
                </a:solidFill>
                <a:latin typeface="JetBrains Mono" pitchFamily="34" charset="0"/>
                <a:ea typeface="JetBrains Mono" pitchFamily="34" charset="-122"/>
                <a:cs typeface="JetBrains Mono" pitchFamily="34" charset="-120"/>
              </a:rPr>
              <a:t>~$</a:t>
            </a:r>
            <a:pPr algn="l" indent="0" marL="0">
              <a:lnSpc>
                <a:spcPts val="3960"/>
              </a:lnSpc>
              <a:buNone/>
            </a:pPr>
            <a:r>
              <a:rPr lang="en-US" sz="3600" b="1" dirty="0">
                <a:solidFill>
                  <a:srgbClr val="F4F6F1"/>
                </a:solidFill>
                <a:latin typeface="JetBrains Mono" pitchFamily="34" charset="0"/>
                <a:ea typeface="JetBrains Mono" pitchFamily="34" charset="-122"/>
                <a:cs typeface="JetBrains Mono" pitchFamily="34" charset="-120"/>
              </a:rPr>
              <a:t> The reminder decision, in order</a:t>
            </a:r>
            <a:endParaRPr lang="en-US" sz="3600" dirty="0"/>
          </a:p>
        </p:txBody>
      </p:sp>
      <p:sp>
        <p:nvSpPr>
          <p:cNvPr id="4" name="Shape 2"/>
          <p:cNvSpPr/>
          <p:nvPr/>
        </p:nvSpPr>
        <p:spPr>
          <a:xfrm>
            <a:off x="812798" y="2133495"/>
            <a:ext cx="1744956" cy="1328337"/>
          </a:xfrm>
          <a:prstGeom prst="roundRect">
            <a:avLst>
              <a:gd name="adj" fmla="val 5736"/>
            </a:avLst>
          </a:prstGeom>
          <a:solidFill>
            <a:srgbClr val="111812"/>
          </a:solidFill>
          <a:ln w="9525">
            <a:solidFill>
              <a:srgbClr val="24402C"/>
            </a:solidFill>
            <a:prstDash val="solid"/>
          </a:ln>
        </p:spPr>
      </p:sp>
      <p:sp>
        <p:nvSpPr>
          <p:cNvPr id="5" name="Text 3"/>
          <p:cNvSpPr/>
          <p:nvPr/>
        </p:nvSpPr>
        <p:spPr>
          <a:xfrm>
            <a:off x="996948" y="2317645"/>
            <a:ext cx="1427457" cy="196850"/>
          </a:xfrm>
          <a:prstGeom prst="rect">
            <a:avLst/>
          </a:prstGeom>
          <a:noFill/>
          <a:ln/>
        </p:spPr>
        <p:txBody>
          <a:bodyPr wrap="square" lIns="0" tIns="0" rIns="0" bIns="0" rtlCol="0" anchor="t"/>
          <a:lstStyle/>
          <a:p>
            <a:pPr algn="l" indent="0" marL="0">
              <a:lnSpc>
                <a:spcPts val="1440"/>
              </a:lnSpc>
              <a:buNone/>
            </a:pPr>
            <a:r>
              <a:rPr lang="en-US" sz="1200" dirty="0">
                <a:solidFill>
                  <a:srgbClr val="86B394"/>
                </a:solidFill>
                <a:latin typeface="JetBrains Mono" pitchFamily="34" charset="0"/>
                <a:ea typeface="JetBrains Mono" pitchFamily="34" charset="-122"/>
                <a:cs typeface="JetBrains Mono" pitchFamily="34" charset="-120"/>
              </a:rPr>
              <a:t>1</a:t>
            </a:r>
            <a:endParaRPr lang="en-US" sz="1200" dirty="0"/>
          </a:p>
        </p:txBody>
      </p:sp>
      <p:sp>
        <p:nvSpPr>
          <p:cNvPr id="6" name="Text 4"/>
          <p:cNvSpPr/>
          <p:nvPr/>
        </p:nvSpPr>
        <p:spPr>
          <a:xfrm>
            <a:off x="996948" y="2565294"/>
            <a:ext cx="1427457" cy="234949"/>
          </a:xfrm>
          <a:prstGeom prst="rect">
            <a:avLst/>
          </a:prstGeom>
          <a:noFill/>
          <a:ln/>
        </p:spPr>
        <p:txBody>
          <a:bodyPr wrap="square" lIns="0" tIns="0" rIns="0" bIns="0" rtlCol="0" anchor="t"/>
          <a:lstStyle/>
          <a:p>
            <a:pPr algn="l" indent="0" marL="0">
              <a:lnSpc>
                <a:spcPts val="1680"/>
              </a:lnSpc>
              <a:buNone/>
            </a:pPr>
            <a:r>
              <a:rPr lang="en-US" sz="1400" b="1" dirty="0">
                <a:solidFill>
                  <a:srgbClr val="F4F6F1"/>
                </a:solidFill>
                <a:latin typeface="IBM Plex Sans" pitchFamily="34" charset="0"/>
                <a:ea typeface="IBM Plex Sans" pitchFamily="34" charset="-122"/>
                <a:cs typeface="IBM Plex Sans" pitchFamily="34" charset="-120"/>
              </a:rPr>
              <a:t>Work day?</a:t>
            </a:r>
            <a:endParaRPr lang="en-US" sz="1400" dirty="0"/>
          </a:p>
        </p:txBody>
      </p:sp>
      <p:sp>
        <p:nvSpPr>
          <p:cNvPr id="7" name="Text 5"/>
          <p:cNvSpPr/>
          <p:nvPr/>
        </p:nvSpPr>
        <p:spPr>
          <a:xfrm>
            <a:off x="996948" y="2851044"/>
            <a:ext cx="1427457" cy="426640"/>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Day off or outside hours: no.</a:t>
            </a:r>
            <a:endParaRPr lang="en-US" sz="1200" dirty="0"/>
          </a:p>
        </p:txBody>
      </p:sp>
      <p:sp>
        <p:nvSpPr>
          <p:cNvPr id="8" name="Shape 6"/>
          <p:cNvSpPr/>
          <p:nvPr/>
        </p:nvSpPr>
        <p:spPr>
          <a:xfrm>
            <a:off x="2659354" y="2797664"/>
            <a:ext cx="253999" cy="0"/>
          </a:xfrm>
          <a:prstGeom prst="line">
            <a:avLst/>
          </a:prstGeom>
          <a:noFill/>
          <a:ln w="19050">
            <a:solidFill>
              <a:srgbClr val="39FF88"/>
            </a:solidFill>
            <a:prstDash val="solid"/>
            <a:tailEnd type="triangle"/>
          </a:ln>
        </p:spPr>
      </p:sp>
      <p:sp>
        <p:nvSpPr>
          <p:cNvPr id="9" name="Shape 7"/>
          <p:cNvSpPr/>
          <p:nvPr/>
        </p:nvSpPr>
        <p:spPr>
          <a:xfrm>
            <a:off x="3014953" y="2026836"/>
            <a:ext cx="1745055" cy="1541657"/>
          </a:xfrm>
          <a:prstGeom prst="roundRect">
            <a:avLst>
              <a:gd name="adj" fmla="val 4943"/>
            </a:avLst>
          </a:prstGeom>
          <a:solidFill>
            <a:srgbClr val="111812"/>
          </a:solidFill>
          <a:ln w="9525">
            <a:solidFill>
              <a:srgbClr val="24402C"/>
            </a:solidFill>
            <a:prstDash val="solid"/>
          </a:ln>
        </p:spPr>
      </p:sp>
      <p:sp>
        <p:nvSpPr>
          <p:cNvPr id="10" name="Text 8"/>
          <p:cNvSpPr/>
          <p:nvPr/>
        </p:nvSpPr>
        <p:spPr>
          <a:xfrm>
            <a:off x="3199102" y="2210985"/>
            <a:ext cx="1427556" cy="196850"/>
          </a:xfrm>
          <a:prstGeom prst="rect">
            <a:avLst/>
          </a:prstGeom>
          <a:noFill/>
          <a:ln/>
        </p:spPr>
        <p:txBody>
          <a:bodyPr wrap="square" lIns="0" tIns="0" rIns="0" bIns="0" rtlCol="0" anchor="t"/>
          <a:lstStyle/>
          <a:p>
            <a:pPr algn="l" indent="0" marL="0">
              <a:lnSpc>
                <a:spcPts val="1440"/>
              </a:lnSpc>
              <a:buNone/>
            </a:pPr>
            <a:r>
              <a:rPr lang="en-US" sz="1200" dirty="0">
                <a:solidFill>
                  <a:srgbClr val="86B394"/>
                </a:solidFill>
                <a:latin typeface="JetBrains Mono" pitchFamily="34" charset="0"/>
                <a:ea typeface="JetBrains Mono" pitchFamily="34" charset="-122"/>
                <a:cs typeface="JetBrains Mono" pitchFamily="34" charset="-120"/>
              </a:rPr>
              <a:t>2</a:t>
            </a:r>
            <a:endParaRPr lang="en-US" sz="1200" dirty="0"/>
          </a:p>
        </p:txBody>
      </p:sp>
      <p:sp>
        <p:nvSpPr>
          <p:cNvPr id="11" name="Text 9"/>
          <p:cNvSpPr/>
          <p:nvPr/>
        </p:nvSpPr>
        <p:spPr>
          <a:xfrm>
            <a:off x="3199102" y="2458634"/>
            <a:ext cx="1427556" cy="234949"/>
          </a:xfrm>
          <a:prstGeom prst="rect">
            <a:avLst/>
          </a:prstGeom>
          <a:noFill/>
          <a:ln/>
        </p:spPr>
        <p:txBody>
          <a:bodyPr wrap="square" lIns="0" tIns="0" rIns="0" bIns="0" rtlCol="0" anchor="t"/>
          <a:lstStyle/>
          <a:p>
            <a:pPr algn="l" indent="0" marL="0">
              <a:lnSpc>
                <a:spcPts val="1680"/>
              </a:lnSpc>
              <a:buNone/>
            </a:pPr>
            <a:r>
              <a:rPr lang="en-US" sz="1400" b="1" dirty="0">
                <a:solidFill>
                  <a:srgbClr val="F4F6F1"/>
                </a:solidFill>
                <a:latin typeface="IBM Plex Sans" pitchFamily="34" charset="0"/>
                <a:ea typeface="IBM Plex Sans" pitchFamily="34" charset="-122"/>
                <a:cs typeface="IBM Plex Sans" pitchFamily="34" charset="-120"/>
              </a:rPr>
              <a:t>Past cut-off?</a:t>
            </a:r>
            <a:endParaRPr lang="en-US" sz="1400" dirty="0"/>
          </a:p>
        </p:txBody>
      </p:sp>
      <p:sp>
        <p:nvSpPr>
          <p:cNvPr id="12" name="Text 10"/>
          <p:cNvSpPr/>
          <p:nvPr/>
        </p:nvSpPr>
        <p:spPr>
          <a:xfrm>
            <a:off x="3199102" y="2744384"/>
            <a:ext cx="1427556" cy="639959"/>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After 15:00 by default: no, for sleep.</a:t>
            </a:r>
            <a:endParaRPr lang="en-US" sz="1200" dirty="0"/>
          </a:p>
        </p:txBody>
      </p:sp>
      <p:sp>
        <p:nvSpPr>
          <p:cNvPr id="13" name="Shape 11"/>
          <p:cNvSpPr/>
          <p:nvPr/>
        </p:nvSpPr>
        <p:spPr>
          <a:xfrm>
            <a:off x="4861607" y="2797664"/>
            <a:ext cx="253999" cy="0"/>
          </a:xfrm>
          <a:prstGeom prst="line">
            <a:avLst/>
          </a:prstGeom>
          <a:noFill/>
          <a:ln w="19050">
            <a:solidFill>
              <a:srgbClr val="39FF88"/>
            </a:solidFill>
            <a:prstDash val="solid"/>
            <a:tailEnd type="triangle"/>
          </a:ln>
        </p:spPr>
      </p:sp>
      <p:sp>
        <p:nvSpPr>
          <p:cNvPr id="14" name="Shape 12"/>
          <p:cNvSpPr/>
          <p:nvPr/>
        </p:nvSpPr>
        <p:spPr>
          <a:xfrm>
            <a:off x="5217206" y="2133495"/>
            <a:ext cx="1744956" cy="1328337"/>
          </a:xfrm>
          <a:prstGeom prst="roundRect">
            <a:avLst>
              <a:gd name="adj" fmla="val 5736"/>
            </a:avLst>
          </a:prstGeom>
          <a:solidFill>
            <a:srgbClr val="111812"/>
          </a:solidFill>
          <a:ln w="9525">
            <a:solidFill>
              <a:srgbClr val="24402C"/>
            </a:solidFill>
            <a:prstDash val="solid"/>
          </a:ln>
        </p:spPr>
      </p:sp>
      <p:sp>
        <p:nvSpPr>
          <p:cNvPr id="15" name="Text 13"/>
          <p:cNvSpPr/>
          <p:nvPr/>
        </p:nvSpPr>
        <p:spPr>
          <a:xfrm>
            <a:off x="5401356" y="2317645"/>
            <a:ext cx="1427457" cy="196850"/>
          </a:xfrm>
          <a:prstGeom prst="rect">
            <a:avLst/>
          </a:prstGeom>
          <a:noFill/>
          <a:ln/>
        </p:spPr>
        <p:txBody>
          <a:bodyPr wrap="square" lIns="0" tIns="0" rIns="0" bIns="0" rtlCol="0" anchor="t"/>
          <a:lstStyle/>
          <a:p>
            <a:pPr algn="l" indent="0" marL="0">
              <a:lnSpc>
                <a:spcPts val="1440"/>
              </a:lnSpc>
              <a:buNone/>
            </a:pPr>
            <a:r>
              <a:rPr lang="en-US" sz="1200" dirty="0">
                <a:solidFill>
                  <a:srgbClr val="86B394"/>
                </a:solidFill>
                <a:latin typeface="JetBrains Mono" pitchFamily="34" charset="0"/>
                <a:ea typeface="JetBrains Mono" pitchFamily="34" charset="-122"/>
                <a:cs typeface="JetBrains Mono" pitchFamily="34" charset="-120"/>
              </a:rPr>
              <a:t>3</a:t>
            </a:r>
            <a:endParaRPr lang="en-US" sz="1200" dirty="0"/>
          </a:p>
        </p:txBody>
      </p:sp>
      <p:sp>
        <p:nvSpPr>
          <p:cNvPr id="16" name="Text 14"/>
          <p:cNvSpPr/>
          <p:nvPr/>
        </p:nvSpPr>
        <p:spPr>
          <a:xfrm>
            <a:off x="5401356" y="2565294"/>
            <a:ext cx="1427457" cy="234949"/>
          </a:xfrm>
          <a:prstGeom prst="rect">
            <a:avLst/>
          </a:prstGeom>
          <a:noFill/>
          <a:ln/>
        </p:spPr>
        <p:txBody>
          <a:bodyPr wrap="square" lIns="0" tIns="0" rIns="0" bIns="0" rtlCol="0" anchor="t"/>
          <a:lstStyle/>
          <a:p>
            <a:pPr algn="l" indent="0" marL="0">
              <a:lnSpc>
                <a:spcPts val="1680"/>
              </a:lnSpc>
              <a:buNone/>
            </a:pPr>
            <a:r>
              <a:rPr lang="en-US" sz="1400" b="1" dirty="0">
                <a:solidFill>
                  <a:srgbClr val="F4F6F1"/>
                </a:solidFill>
                <a:latin typeface="IBM Plex Sans" pitchFamily="34" charset="0"/>
                <a:ea typeface="IBM Plex Sans" pitchFamily="34" charset="-122"/>
                <a:cs typeface="IBM Plex Sans" pitchFamily="34" charset="-120"/>
              </a:rPr>
              <a:t>At the limit?</a:t>
            </a:r>
            <a:endParaRPr lang="en-US" sz="1400" dirty="0"/>
          </a:p>
        </p:txBody>
      </p:sp>
      <p:sp>
        <p:nvSpPr>
          <p:cNvPr id="17" name="Text 15"/>
          <p:cNvSpPr/>
          <p:nvPr/>
        </p:nvSpPr>
        <p:spPr>
          <a:xfrm>
            <a:off x="5401356" y="2851044"/>
            <a:ext cx="1427457" cy="426640"/>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400 mg reached: no.</a:t>
            </a:r>
            <a:endParaRPr lang="en-US" sz="1200" dirty="0"/>
          </a:p>
        </p:txBody>
      </p:sp>
      <p:sp>
        <p:nvSpPr>
          <p:cNvPr id="18" name="Shape 16"/>
          <p:cNvSpPr/>
          <p:nvPr/>
        </p:nvSpPr>
        <p:spPr>
          <a:xfrm>
            <a:off x="7063762" y="2797664"/>
            <a:ext cx="253999" cy="0"/>
          </a:xfrm>
          <a:prstGeom prst="line">
            <a:avLst/>
          </a:prstGeom>
          <a:noFill/>
          <a:ln w="19050">
            <a:solidFill>
              <a:srgbClr val="39FF88"/>
            </a:solidFill>
            <a:prstDash val="solid"/>
            <a:tailEnd type="triangle"/>
          </a:ln>
        </p:spPr>
      </p:sp>
      <p:sp>
        <p:nvSpPr>
          <p:cNvPr id="19" name="Shape 17"/>
          <p:cNvSpPr/>
          <p:nvPr/>
        </p:nvSpPr>
        <p:spPr>
          <a:xfrm>
            <a:off x="7419361" y="2133495"/>
            <a:ext cx="1744956" cy="1328337"/>
          </a:xfrm>
          <a:prstGeom prst="roundRect">
            <a:avLst>
              <a:gd name="adj" fmla="val 5736"/>
            </a:avLst>
          </a:prstGeom>
          <a:solidFill>
            <a:srgbClr val="111812"/>
          </a:solidFill>
          <a:ln w="9525">
            <a:solidFill>
              <a:srgbClr val="24402C"/>
            </a:solidFill>
            <a:prstDash val="solid"/>
          </a:ln>
        </p:spPr>
      </p:sp>
      <p:sp>
        <p:nvSpPr>
          <p:cNvPr id="20" name="Text 18"/>
          <p:cNvSpPr/>
          <p:nvPr/>
        </p:nvSpPr>
        <p:spPr>
          <a:xfrm>
            <a:off x="7603511" y="2317645"/>
            <a:ext cx="1427457" cy="196850"/>
          </a:xfrm>
          <a:prstGeom prst="rect">
            <a:avLst/>
          </a:prstGeom>
          <a:noFill/>
          <a:ln/>
        </p:spPr>
        <p:txBody>
          <a:bodyPr wrap="square" lIns="0" tIns="0" rIns="0" bIns="0" rtlCol="0" anchor="t"/>
          <a:lstStyle/>
          <a:p>
            <a:pPr algn="l" indent="0" marL="0">
              <a:lnSpc>
                <a:spcPts val="1440"/>
              </a:lnSpc>
              <a:buNone/>
            </a:pPr>
            <a:r>
              <a:rPr lang="en-US" sz="1200" dirty="0">
                <a:solidFill>
                  <a:srgbClr val="86B394"/>
                </a:solidFill>
                <a:latin typeface="JetBrains Mono" pitchFamily="34" charset="0"/>
                <a:ea typeface="JetBrains Mono" pitchFamily="34" charset="-122"/>
                <a:cs typeface="JetBrains Mono" pitchFamily="34" charset="-120"/>
              </a:rPr>
              <a:t>4</a:t>
            </a:r>
            <a:endParaRPr lang="en-US" sz="1200" dirty="0"/>
          </a:p>
        </p:txBody>
      </p:sp>
      <p:sp>
        <p:nvSpPr>
          <p:cNvPr id="21" name="Text 19"/>
          <p:cNvSpPr/>
          <p:nvPr/>
        </p:nvSpPr>
        <p:spPr>
          <a:xfrm>
            <a:off x="7603511" y="2565294"/>
            <a:ext cx="1427457" cy="234949"/>
          </a:xfrm>
          <a:prstGeom prst="rect">
            <a:avLst/>
          </a:prstGeom>
          <a:noFill/>
          <a:ln/>
        </p:spPr>
        <p:txBody>
          <a:bodyPr wrap="square" lIns="0" tIns="0" rIns="0" bIns="0" rtlCol="0" anchor="t"/>
          <a:lstStyle/>
          <a:p>
            <a:pPr algn="l" indent="0" marL="0">
              <a:lnSpc>
                <a:spcPts val="1680"/>
              </a:lnSpc>
              <a:buNone/>
            </a:pPr>
            <a:r>
              <a:rPr lang="en-US" sz="1400" b="1" dirty="0">
                <a:solidFill>
                  <a:srgbClr val="F4F6F1"/>
                </a:solidFill>
                <a:latin typeface="IBM Plex Sans" pitchFamily="34" charset="0"/>
                <a:ea typeface="IBM Plex Sans" pitchFamily="34" charset="-122"/>
                <a:cs typeface="IBM Plex Sans" pitchFamily="34" charset="-120"/>
              </a:rPr>
              <a:t>Due yet?</a:t>
            </a:r>
            <a:endParaRPr lang="en-US" sz="1400" dirty="0"/>
          </a:p>
        </p:txBody>
      </p:sp>
      <p:sp>
        <p:nvSpPr>
          <p:cNvPr id="22" name="Text 20"/>
          <p:cNvSpPr/>
          <p:nvPr/>
        </p:nvSpPr>
        <p:spPr>
          <a:xfrm>
            <a:off x="7603511" y="2851044"/>
            <a:ext cx="1427457" cy="426640"/>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Gap elapsed, or a set time reached.</a:t>
            </a:r>
            <a:endParaRPr lang="en-US" sz="1200" dirty="0"/>
          </a:p>
        </p:txBody>
      </p:sp>
      <p:sp>
        <p:nvSpPr>
          <p:cNvPr id="23" name="Shape 21"/>
          <p:cNvSpPr/>
          <p:nvPr/>
        </p:nvSpPr>
        <p:spPr>
          <a:xfrm>
            <a:off x="9265917" y="2797664"/>
            <a:ext cx="253999" cy="0"/>
          </a:xfrm>
          <a:prstGeom prst="line">
            <a:avLst/>
          </a:prstGeom>
          <a:noFill/>
          <a:ln w="19050">
            <a:solidFill>
              <a:srgbClr val="39FF88"/>
            </a:solidFill>
            <a:prstDash val="solid"/>
            <a:tailEnd type="triangle"/>
          </a:ln>
        </p:spPr>
      </p:sp>
      <p:sp>
        <p:nvSpPr>
          <p:cNvPr id="24" name="Shape 22"/>
          <p:cNvSpPr/>
          <p:nvPr/>
        </p:nvSpPr>
        <p:spPr>
          <a:xfrm>
            <a:off x="9621516" y="2020486"/>
            <a:ext cx="1757656" cy="1554357"/>
          </a:xfrm>
          <a:prstGeom prst="roundRect">
            <a:avLst>
              <a:gd name="adj" fmla="val 4902"/>
            </a:avLst>
          </a:prstGeom>
          <a:solidFill>
            <a:srgbClr val="16201A"/>
          </a:solidFill>
          <a:ln w="12700">
            <a:solidFill>
              <a:srgbClr val="39FF88"/>
            </a:solidFill>
            <a:prstDash val="solid"/>
          </a:ln>
        </p:spPr>
      </p:sp>
      <p:sp>
        <p:nvSpPr>
          <p:cNvPr id="25" name="Text 23"/>
          <p:cNvSpPr/>
          <p:nvPr/>
        </p:nvSpPr>
        <p:spPr>
          <a:xfrm>
            <a:off x="9812015" y="2210985"/>
            <a:ext cx="1427457" cy="196850"/>
          </a:xfrm>
          <a:prstGeom prst="rect">
            <a:avLst/>
          </a:prstGeom>
          <a:noFill/>
          <a:ln/>
        </p:spPr>
        <p:txBody>
          <a:bodyPr wrap="square" lIns="0" tIns="0" rIns="0" bIns="0" rtlCol="0" anchor="t"/>
          <a:lstStyle/>
          <a:p>
            <a:pPr algn="l" indent="0" marL="0">
              <a:lnSpc>
                <a:spcPts val="1440"/>
              </a:lnSpc>
              <a:buNone/>
            </a:pPr>
            <a:r>
              <a:rPr lang="en-US" sz="1200" dirty="0">
                <a:solidFill>
                  <a:srgbClr val="39FF88"/>
                </a:solidFill>
                <a:latin typeface="JetBrains Mono" pitchFamily="34" charset="0"/>
                <a:ea typeface="JetBrains Mono" pitchFamily="34" charset="-122"/>
                <a:cs typeface="JetBrains Mono" pitchFamily="34" charset="-120"/>
              </a:rPr>
              <a:t>5</a:t>
            </a:r>
            <a:endParaRPr lang="en-US" sz="1200" dirty="0"/>
          </a:p>
        </p:txBody>
      </p:sp>
      <p:sp>
        <p:nvSpPr>
          <p:cNvPr id="26" name="Text 24"/>
          <p:cNvSpPr/>
          <p:nvPr/>
        </p:nvSpPr>
        <p:spPr>
          <a:xfrm>
            <a:off x="9812015" y="2458634"/>
            <a:ext cx="1427457" cy="234949"/>
          </a:xfrm>
          <a:prstGeom prst="rect">
            <a:avLst/>
          </a:prstGeom>
          <a:noFill/>
          <a:ln/>
        </p:spPr>
        <p:txBody>
          <a:bodyPr wrap="square" lIns="0" tIns="0" rIns="0" bIns="0" rtlCol="0" anchor="t"/>
          <a:lstStyle/>
          <a:p>
            <a:pPr algn="l" indent="0" marL="0">
              <a:lnSpc>
                <a:spcPts val="1680"/>
              </a:lnSpc>
              <a:buNone/>
            </a:pPr>
            <a:r>
              <a:rPr lang="en-US" sz="1400" b="1" dirty="0">
                <a:solidFill>
                  <a:srgbClr val="F4F6F1"/>
                </a:solidFill>
                <a:latin typeface="IBM Plex Sans" pitchFamily="34" charset="0"/>
                <a:ea typeface="IBM Plex Sans" pitchFamily="34" charset="-122"/>
                <a:cs typeface="IBM Plex Sans" pitchFamily="34" charset="-120"/>
              </a:rPr>
              <a:t>Already sent?</a:t>
            </a:r>
            <a:endParaRPr lang="en-US" sz="1400" dirty="0"/>
          </a:p>
        </p:txBody>
      </p:sp>
      <p:sp>
        <p:nvSpPr>
          <p:cNvPr id="27" name="Text 25"/>
          <p:cNvSpPr/>
          <p:nvPr/>
        </p:nvSpPr>
        <p:spPr>
          <a:xfrm>
            <a:off x="9812015" y="2744384"/>
            <a:ext cx="1427457" cy="639959"/>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Same slot fired once: no. Otherwise: remind.</a:t>
            </a:r>
            <a:endParaRPr lang="en-US" sz="1200" dirty="0"/>
          </a:p>
        </p:txBody>
      </p:sp>
      <p:sp>
        <p:nvSpPr>
          <p:cNvPr id="28" name="Shape 26"/>
          <p:cNvSpPr/>
          <p:nvPr/>
        </p:nvSpPr>
        <p:spPr>
          <a:xfrm>
            <a:off x="812798" y="3828842"/>
            <a:ext cx="3386625" cy="1579757"/>
          </a:xfrm>
          <a:prstGeom prst="roundRect">
            <a:avLst>
              <a:gd name="adj" fmla="val 4824"/>
            </a:avLst>
          </a:prstGeom>
          <a:solidFill>
            <a:srgbClr val="111812"/>
          </a:solidFill>
          <a:ln w="9525">
            <a:solidFill>
              <a:srgbClr val="24402C"/>
            </a:solidFill>
            <a:prstDash val="solid"/>
          </a:ln>
        </p:spPr>
      </p:sp>
      <p:sp>
        <p:nvSpPr>
          <p:cNvPr id="29" name="Text 27"/>
          <p:cNvSpPr/>
          <p:nvPr/>
        </p:nvSpPr>
        <p:spPr>
          <a:xfrm>
            <a:off x="1022347" y="4038391"/>
            <a:ext cx="3018326" cy="234949"/>
          </a:xfrm>
          <a:prstGeom prst="rect">
            <a:avLst/>
          </a:prstGeom>
          <a:noFill/>
          <a:ln/>
        </p:spPr>
        <p:txBody>
          <a:bodyPr wrap="square" lIns="0" tIns="0" rIns="0" bIns="0" rtlCol="0" anchor="t"/>
          <a:lstStyle/>
          <a:p>
            <a:pPr algn="l" indent="0" marL="0">
              <a:lnSpc>
                <a:spcPts val="1680"/>
              </a:lnSpc>
              <a:buNone/>
            </a:pPr>
            <a:r>
              <a:rPr lang="en-US" sz="1400" b="1" dirty="0">
                <a:solidFill>
                  <a:srgbClr val="39FF88"/>
                </a:solidFill>
                <a:latin typeface="IBM Plex Sans" pitchFamily="34" charset="0"/>
                <a:ea typeface="IBM Plex Sans" pitchFamily="34" charset="-122"/>
                <a:cs typeface="IBM Plex Sans" pitchFamily="34" charset="-120"/>
              </a:rPr>
              <a:t>Two reminder modes</a:t>
            </a:r>
            <a:endParaRPr lang="en-US" sz="1400" dirty="0"/>
          </a:p>
        </p:txBody>
      </p:sp>
      <p:sp>
        <p:nvSpPr>
          <p:cNvPr id="30" name="Text 28"/>
          <p:cNvSpPr/>
          <p:nvPr/>
        </p:nvSpPr>
        <p:spPr>
          <a:xfrm>
            <a:off x="1022347" y="4324141"/>
            <a:ext cx="3018326" cy="426640"/>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Every N hours without caffeine, or at set times that must fall inside work hours.</a:t>
            </a:r>
            <a:endParaRPr lang="en-US" sz="1200" dirty="0"/>
          </a:p>
        </p:txBody>
      </p:sp>
      <p:sp>
        <p:nvSpPr>
          <p:cNvPr id="31" name="Shape 29"/>
          <p:cNvSpPr/>
          <p:nvPr/>
        </p:nvSpPr>
        <p:spPr>
          <a:xfrm>
            <a:off x="4402623" y="3828842"/>
            <a:ext cx="3386724" cy="1579757"/>
          </a:xfrm>
          <a:prstGeom prst="roundRect">
            <a:avLst>
              <a:gd name="adj" fmla="val 4824"/>
            </a:avLst>
          </a:prstGeom>
          <a:solidFill>
            <a:srgbClr val="111812"/>
          </a:solidFill>
          <a:ln w="9525">
            <a:solidFill>
              <a:srgbClr val="24402C"/>
            </a:solidFill>
            <a:prstDash val="solid"/>
          </a:ln>
        </p:spPr>
      </p:sp>
      <p:sp>
        <p:nvSpPr>
          <p:cNvPr id="32" name="Text 30"/>
          <p:cNvSpPr/>
          <p:nvPr/>
        </p:nvSpPr>
        <p:spPr>
          <a:xfrm>
            <a:off x="4612172" y="4038391"/>
            <a:ext cx="3018425" cy="469899"/>
          </a:xfrm>
          <a:prstGeom prst="rect">
            <a:avLst/>
          </a:prstGeom>
          <a:noFill/>
          <a:ln/>
        </p:spPr>
        <p:txBody>
          <a:bodyPr wrap="square" lIns="0" tIns="0" rIns="0" bIns="0" rtlCol="0" anchor="t"/>
          <a:lstStyle/>
          <a:p>
            <a:pPr algn="l" indent="0" marL="0">
              <a:lnSpc>
                <a:spcPts val="1680"/>
              </a:lnSpc>
              <a:buNone/>
            </a:pPr>
            <a:r>
              <a:rPr lang="en-US" sz="1400" b="1" dirty="0">
                <a:solidFill>
                  <a:srgbClr val="39FF88"/>
                </a:solidFill>
                <a:latin typeface="IBM Plex Sans" pitchFamily="34" charset="0"/>
                <a:ea typeface="IBM Plex Sans" pitchFamily="34" charset="-122"/>
                <a:cs typeface="IBM Plex Sans" pitchFamily="34" charset="-120"/>
              </a:rPr>
              <a:t>The user’s time zone, not the browser’s</a:t>
            </a:r>
            <a:endParaRPr lang="en-US" sz="1400" dirty="0"/>
          </a:p>
        </p:txBody>
      </p:sp>
      <p:sp>
        <p:nvSpPr>
          <p:cNvPr id="33" name="Text 31"/>
          <p:cNvSpPr/>
          <p:nvPr/>
        </p:nvSpPr>
        <p:spPr>
          <a:xfrm>
            <a:off x="4612172" y="4559090"/>
            <a:ext cx="3018425" cy="639959"/>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Work hours are evaluated in the chosen zone with the built-in Intl API, daylight saving included.</a:t>
            </a:r>
            <a:endParaRPr lang="en-US" sz="1200" dirty="0"/>
          </a:p>
        </p:txBody>
      </p:sp>
      <p:sp>
        <p:nvSpPr>
          <p:cNvPr id="34" name="Shape 32"/>
          <p:cNvSpPr/>
          <p:nvPr/>
        </p:nvSpPr>
        <p:spPr>
          <a:xfrm>
            <a:off x="7992546" y="3828842"/>
            <a:ext cx="3386625" cy="1579757"/>
          </a:xfrm>
          <a:prstGeom prst="roundRect">
            <a:avLst>
              <a:gd name="adj" fmla="val 4824"/>
            </a:avLst>
          </a:prstGeom>
          <a:solidFill>
            <a:srgbClr val="111812"/>
          </a:solidFill>
          <a:ln w="9525">
            <a:solidFill>
              <a:srgbClr val="24402C"/>
            </a:solidFill>
            <a:prstDash val="solid"/>
          </a:ln>
        </p:spPr>
      </p:sp>
      <p:sp>
        <p:nvSpPr>
          <p:cNvPr id="35" name="Text 33"/>
          <p:cNvSpPr/>
          <p:nvPr/>
        </p:nvSpPr>
        <p:spPr>
          <a:xfrm>
            <a:off x="8202096" y="4038391"/>
            <a:ext cx="3018326" cy="234949"/>
          </a:xfrm>
          <a:prstGeom prst="rect">
            <a:avLst/>
          </a:prstGeom>
          <a:noFill/>
          <a:ln/>
        </p:spPr>
        <p:txBody>
          <a:bodyPr wrap="square" lIns="0" tIns="0" rIns="0" bIns="0" rtlCol="0" anchor="t"/>
          <a:lstStyle/>
          <a:p>
            <a:pPr algn="l" indent="0" marL="0">
              <a:lnSpc>
                <a:spcPts val="1680"/>
              </a:lnSpc>
              <a:buNone/>
            </a:pPr>
            <a:r>
              <a:rPr lang="en-US" sz="1400" b="1" dirty="0">
                <a:solidFill>
                  <a:srgbClr val="39FF88"/>
                </a:solidFill>
                <a:latin typeface="IBM Plex Sans" pitchFamily="34" charset="0"/>
                <a:ea typeface="IBM Plex Sans" pitchFamily="34" charset="-122"/>
                <a:cs typeface="IBM Plex Sans" pitchFamily="34" charset="-120"/>
              </a:rPr>
              <a:t>Green on the first run</a:t>
            </a:r>
            <a:endParaRPr lang="en-US" sz="1400" dirty="0"/>
          </a:p>
        </p:txBody>
      </p:sp>
      <p:sp>
        <p:nvSpPr>
          <p:cNvPr id="36" name="Text 34"/>
          <p:cNvSpPr/>
          <p:nvPr/>
        </p:nvSpPr>
        <p:spPr>
          <a:xfrm>
            <a:off x="8202096" y="4324141"/>
            <a:ext cx="3018326" cy="639959"/>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The package came with its own unit tests, written alongside the rules, all passing the first time they ran.</a:t>
            </a:r>
            <a:endParaRPr lang="en-US" sz="1200" dirty="0"/>
          </a:p>
        </p:txBody>
      </p:sp>
      <p:sp>
        <p:nvSpPr>
          <p:cNvPr id="37" name="Text 35"/>
          <p:cNvSpPr/>
          <p:nvPr/>
        </p:nvSpPr>
        <p:spPr>
          <a:xfrm>
            <a:off x="812798" y="6254734"/>
            <a:ext cx="10617173" cy="196850"/>
          </a:xfrm>
          <a:prstGeom prst="rect">
            <a:avLst/>
          </a:prstGeom>
          <a:noFill/>
          <a:ln/>
        </p:spPr>
        <p:txBody>
          <a:bodyPr wrap="square" lIns="0" tIns="0" rIns="0" bIns="0" rtlCol="0" anchor="t"/>
          <a:lstStyle/>
          <a:p>
            <a:pPr algn="l" indent="0" marL="0">
              <a:lnSpc>
                <a:spcPts val="1440"/>
              </a:lnSpc>
              <a:buNone/>
            </a:pPr>
            <a:r>
              <a:rPr lang="en-US" sz="1200" dirty="0">
                <a:solidFill>
                  <a:srgbClr val="86B394"/>
                </a:solidFill>
                <a:latin typeface="JetBrains Mono" pitchFamily="34" charset="0"/>
                <a:ea typeface="JetBrains Mono" pitchFamily="34" charset="-122"/>
                <a:cs typeface="JetBrains Mono" pitchFamily="34" charset="-120"/>
              </a:rPr>
              <a:t>part 2 · app building</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F0C"/>
        </a:solidFill>
      </p:bgPr>
    </p:bg>
    <p:spTree>
      <p:nvGrpSpPr>
        <p:cNvPr id="1" name=""/>
        <p:cNvGrpSpPr/>
        <p:nvPr/>
      </p:nvGrpSpPr>
      <p:grpSpPr>
        <a:xfrm>
          <a:off x="0" y="0"/>
          <a:ext cx="0" cy="0"/>
          <a:chOff x="0" y="0"/>
          <a:chExt cx="0" cy="0"/>
        </a:xfrm>
      </p:grpSpPr>
      <p:sp>
        <p:nvSpPr>
          <p:cNvPr id="2" name="Text 0"/>
          <p:cNvSpPr/>
          <p:nvPr/>
        </p:nvSpPr>
        <p:spPr>
          <a:xfrm>
            <a:off x="812798" y="812798"/>
            <a:ext cx="10617173" cy="196850"/>
          </a:xfrm>
          <a:prstGeom prst="rect">
            <a:avLst/>
          </a:prstGeom>
          <a:noFill/>
          <a:ln/>
        </p:spPr>
        <p:txBody>
          <a:bodyPr wrap="square" lIns="0" tIns="0" rIns="0" bIns="0" rtlCol="0" anchor="t"/>
          <a:lstStyle/>
          <a:p>
            <a:pPr algn="l" indent="0" marL="0">
              <a:lnSpc>
                <a:spcPts val="1440"/>
              </a:lnSpc>
              <a:buNone/>
            </a:pPr>
            <a:r>
              <a:rPr lang="en-US" sz="1200" spc="100" kern="0" dirty="0">
                <a:solidFill>
                  <a:srgbClr val="39FF88"/>
                </a:solidFill>
                <a:latin typeface="JetBrains Mono" pitchFamily="34" charset="0"/>
                <a:ea typeface="JetBrains Mono" pitchFamily="34" charset="-122"/>
                <a:cs typeface="JetBrains Mono" pitchFamily="34" charset="-120"/>
              </a:rPr>
              <a:t>// THE WEB APP</a:t>
            </a:r>
            <a:endParaRPr lang="en-US" sz="1200" dirty="0"/>
          </a:p>
        </p:txBody>
      </p:sp>
      <p:sp>
        <p:nvSpPr>
          <p:cNvPr id="3" name="Text 1"/>
          <p:cNvSpPr/>
          <p:nvPr/>
        </p:nvSpPr>
        <p:spPr>
          <a:xfrm>
            <a:off x="812798" y="1263647"/>
            <a:ext cx="10617173" cy="502839"/>
          </a:xfrm>
          <a:prstGeom prst="rect">
            <a:avLst/>
          </a:prstGeom>
          <a:noFill/>
          <a:ln/>
        </p:spPr>
        <p:txBody>
          <a:bodyPr wrap="square" lIns="0" tIns="0" rIns="0" bIns="0" rtlCol="0" anchor="t"/>
          <a:lstStyle/>
          <a:p>
            <a:pPr algn="l" indent="0" marL="0">
              <a:lnSpc>
                <a:spcPts val="3960"/>
              </a:lnSpc>
              <a:buNone/>
            </a:pPr>
            <a:r>
              <a:rPr lang="en-US" sz="3600" b="1" dirty="0">
                <a:solidFill>
                  <a:srgbClr val="39FF88"/>
                </a:solidFill>
                <a:latin typeface="JetBrains Mono" pitchFamily="34" charset="0"/>
                <a:ea typeface="JetBrains Mono" pitchFamily="34" charset="-122"/>
                <a:cs typeface="JetBrains Mono" pitchFamily="34" charset="-120"/>
              </a:rPr>
              <a:t>~$</a:t>
            </a:r>
            <a:pPr algn="l" indent="0" marL="0">
              <a:lnSpc>
                <a:spcPts val="3960"/>
              </a:lnSpc>
              <a:buNone/>
            </a:pPr>
            <a:r>
              <a:rPr lang="en-US" sz="3600" b="1" dirty="0">
                <a:solidFill>
                  <a:srgbClr val="F4F6F1"/>
                </a:solidFill>
                <a:latin typeface="JetBrains Mono" pitchFamily="34" charset="0"/>
                <a:ea typeface="JetBrains Mono" pitchFamily="34" charset="-122"/>
                <a:cs typeface="JetBrains Mono" pitchFamily="34" charset="-120"/>
              </a:rPr>
              <a:t> What the screens got</a:t>
            </a:r>
            <a:endParaRPr lang="en-US" sz="3600" dirty="0"/>
          </a:p>
        </p:txBody>
      </p:sp>
      <p:sp>
        <p:nvSpPr>
          <p:cNvPr id="4" name="Shape 2"/>
          <p:cNvSpPr/>
          <p:nvPr/>
        </p:nvSpPr>
        <p:spPr>
          <a:xfrm>
            <a:off x="812798" y="2020486"/>
            <a:ext cx="3403591" cy="1357508"/>
          </a:xfrm>
          <a:prstGeom prst="roundRect">
            <a:avLst>
              <a:gd name="adj" fmla="val 5613"/>
            </a:avLst>
          </a:prstGeom>
          <a:solidFill>
            <a:srgbClr val="111812"/>
          </a:solidFill>
          <a:ln w="9525">
            <a:solidFill>
              <a:srgbClr val="24402C"/>
            </a:solidFill>
            <a:prstDash val="solid"/>
          </a:ln>
        </p:spPr>
      </p:sp>
      <p:sp>
        <p:nvSpPr>
          <p:cNvPr id="5" name="Text 3"/>
          <p:cNvSpPr/>
          <p:nvPr/>
        </p:nvSpPr>
        <p:spPr>
          <a:xfrm>
            <a:off x="1022347" y="2230035"/>
            <a:ext cx="3035292" cy="234949"/>
          </a:xfrm>
          <a:prstGeom prst="rect">
            <a:avLst/>
          </a:prstGeom>
          <a:noFill/>
          <a:ln/>
        </p:spPr>
        <p:txBody>
          <a:bodyPr wrap="square" lIns="0" tIns="0" rIns="0" bIns="0" rtlCol="0" anchor="t"/>
          <a:lstStyle/>
          <a:p>
            <a:pPr algn="l" indent="0" marL="0">
              <a:lnSpc>
                <a:spcPts val="1680"/>
              </a:lnSpc>
              <a:buNone/>
            </a:pPr>
            <a:r>
              <a:rPr lang="en-US" sz="1400" b="1" dirty="0">
                <a:solidFill>
                  <a:srgbClr val="39FF88"/>
                </a:solidFill>
                <a:latin typeface="IBM Plex Sans" pitchFamily="34" charset="0"/>
                <a:ea typeface="IBM Plex Sans" pitchFamily="34" charset="-122"/>
                <a:cs typeface="IBM Plex Sans" pitchFamily="34" charset="-120"/>
              </a:rPr>
              <a:t>The coffee cup</a:t>
            </a:r>
            <a:endParaRPr lang="en-US" sz="1400" dirty="0"/>
          </a:p>
        </p:txBody>
      </p:sp>
      <p:sp>
        <p:nvSpPr>
          <p:cNvPr id="6" name="Text 4"/>
          <p:cNvSpPr/>
          <p:nvPr/>
        </p:nvSpPr>
        <p:spPr>
          <a:xfrm>
            <a:off x="1022347" y="2528484"/>
            <a:ext cx="3035292" cy="639959"/>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Fills with today’s total, steams above zero, turns amber at the limit, spills past it. Still under reduced motion.</a:t>
            </a:r>
            <a:endParaRPr lang="en-US" sz="1200" dirty="0"/>
          </a:p>
        </p:txBody>
      </p:sp>
      <p:sp>
        <p:nvSpPr>
          <p:cNvPr id="7" name="Shape 5"/>
          <p:cNvSpPr/>
          <p:nvPr/>
        </p:nvSpPr>
        <p:spPr>
          <a:xfrm>
            <a:off x="4394189" y="2020486"/>
            <a:ext cx="3403591" cy="1357508"/>
          </a:xfrm>
          <a:prstGeom prst="roundRect">
            <a:avLst>
              <a:gd name="adj" fmla="val 5613"/>
            </a:avLst>
          </a:prstGeom>
          <a:solidFill>
            <a:srgbClr val="111812"/>
          </a:solidFill>
          <a:ln w="9525">
            <a:solidFill>
              <a:srgbClr val="24402C"/>
            </a:solidFill>
            <a:prstDash val="solid"/>
          </a:ln>
        </p:spPr>
      </p:sp>
      <p:sp>
        <p:nvSpPr>
          <p:cNvPr id="8" name="Text 6"/>
          <p:cNvSpPr/>
          <p:nvPr/>
        </p:nvSpPr>
        <p:spPr>
          <a:xfrm>
            <a:off x="4603738" y="2230035"/>
            <a:ext cx="3035292" cy="234949"/>
          </a:xfrm>
          <a:prstGeom prst="rect">
            <a:avLst/>
          </a:prstGeom>
          <a:noFill/>
          <a:ln/>
        </p:spPr>
        <p:txBody>
          <a:bodyPr wrap="square" lIns="0" tIns="0" rIns="0" bIns="0" rtlCol="0" anchor="t"/>
          <a:lstStyle/>
          <a:p>
            <a:pPr algn="l" indent="0" marL="0">
              <a:lnSpc>
                <a:spcPts val="1680"/>
              </a:lnSpc>
              <a:buNone/>
            </a:pPr>
            <a:r>
              <a:rPr lang="en-US" sz="1400" b="1" dirty="0">
                <a:solidFill>
                  <a:srgbClr val="39FF88"/>
                </a:solidFill>
                <a:latin typeface="IBM Plex Sans" pitchFamily="34" charset="0"/>
                <a:ea typeface="IBM Plex Sans" pitchFamily="34" charset="-122"/>
                <a:cs typeface="IBM Plex Sans" pitchFamily="34" charset="-120"/>
              </a:rPr>
              <a:t>Today</a:t>
            </a:r>
            <a:endParaRPr lang="en-US" sz="1400" dirty="0"/>
          </a:p>
        </p:txBody>
      </p:sp>
      <p:sp>
        <p:nvSpPr>
          <p:cNvPr id="9" name="Text 7"/>
          <p:cNvSpPr/>
          <p:nvPr/>
        </p:nvSpPr>
        <p:spPr>
          <a:xfrm>
            <a:off x="4603738" y="2528484"/>
            <a:ext cx="3035292" cy="639959"/>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Four metric tiles, an ASCII progress bar, a collapsible history drawer and the add-drink dialog.</a:t>
            </a:r>
            <a:endParaRPr lang="en-US" sz="1200" dirty="0"/>
          </a:p>
        </p:txBody>
      </p:sp>
      <p:sp>
        <p:nvSpPr>
          <p:cNvPr id="10" name="Shape 8"/>
          <p:cNvSpPr/>
          <p:nvPr/>
        </p:nvSpPr>
        <p:spPr>
          <a:xfrm>
            <a:off x="7975580" y="2020486"/>
            <a:ext cx="3403591" cy="1357508"/>
          </a:xfrm>
          <a:prstGeom prst="roundRect">
            <a:avLst>
              <a:gd name="adj" fmla="val 5613"/>
            </a:avLst>
          </a:prstGeom>
          <a:solidFill>
            <a:srgbClr val="111812"/>
          </a:solidFill>
          <a:ln w="9525">
            <a:solidFill>
              <a:srgbClr val="24402C"/>
            </a:solidFill>
            <a:prstDash val="solid"/>
          </a:ln>
        </p:spPr>
      </p:sp>
      <p:sp>
        <p:nvSpPr>
          <p:cNvPr id="11" name="Text 9"/>
          <p:cNvSpPr/>
          <p:nvPr/>
        </p:nvSpPr>
        <p:spPr>
          <a:xfrm>
            <a:off x="8185130" y="2230035"/>
            <a:ext cx="3035292" cy="234949"/>
          </a:xfrm>
          <a:prstGeom prst="rect">
            <a:avLst/>
          </a:prstGeom>
          <a:noFill/>
          <a:ln/>
        </p:spPr>
        <p:txBody>
          <a:bodyPr wrap="square" lIns="0" tIns="0" rIns="0" bIns="0" rtlCol="0" anchor="t"/>
          <a:lstStyle/>
          <a:p>
            <a:pPr algn="l" indent="0" marL="0">
              <a:lnSpc>
                <a:spcPts val="1680"/>
              </a:lnSpc>
              <a:buNone/>
            </a:pPr>
            <a:r>
              <a:rPr lang="en-US" sz="1400" b="1" dirty="0">
                <a:solidFill>
                  <a:srgbClr val="39FF88"/>
                </a:solidFill>
                <a:latin typeface="IBM Plex Sans" pitchFamily="34" charset="0"/>
                <a:ea typeface="IBM Plex Sans" pitchFamily="34" charset="-122"/>
                <a:cs typeface="IBM Plex Sans" pitchFamily="34" charset="-120"/>
              </a:rPr>
              <a:t>Calendar</a:t>
            </a:r>
            <a:endParaRPr lang="en-US" sz="1400" dirty="0"/>
          </a:p>
        </p:txBody>
      </p:sp>
      <p:sp>
        <p:nvSpPr>
          <p:cNvPr id="12" name="Text 10"/>
          <p:cNvSpPr/>
          <p:nvPr/>
        </p:nvSpPr>
        <p:spPr>
          <a:xfrm>
            <a:off x="8185130" y="2528484"/>
            <a:ext cx="3035292" cy="426640"/>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One month at a time, three colour levels per day, a side panel that sums the month.</a:t>
            </a:r>
            <a:endParaRPr lang="en-US" sz="1200" dirty="0"/>
          </a:p>
        </p:txBody>
      </p:sp>
      <p:sp>
        <p:nvSpPr>
          <p:cNvPr id="13" name="Shape 11"/>
          <p:cNvSpPr/>
          <p:nvPr/>
        </p:nvSpPr>
        <p:spPr>
          <a:xfrm>
            <a:off x="812798" y="3555793"/>
            <a:ext cx="3403591" cy="1370208"/>
          </a:xfrm>
          <a:prstGeom prst="roundRect">
            <a:avLst>
              <a:gd name="adj" fmla="val 5561"/>
            </a:avLst>
          </a:prstGeom>
          <a:solidFill>
            <a:srgbClr val="111812"/>
          </a:solidFill>
          <a:ln w="9525">
            <a:solidFill>
              <a:srgbClr val="24402C"/>
            </a:solidFill>
            <a:prstDash val="solid"/>
          </a:ln>
        </p:spPr>
      </p:sp>
      <p:sp>
        <p:nvSpPr>
          <p:cNvPr id="14" name="Text 12"/>
          <p:cNvSpPr/>
          <p:nvPr/>
        </p:nvSpPr>
        <p:spPr>
          <a:xfrm>
            <a:off x="1022347" y="3765342"/>
            <a:ext cx="3035292" cy="234949"/>
          </a:xfrm>
          <a:prstGeom prst="rect">
            <a:avLst/>
          </a:prstGeom>
          <a:noFill/>
          <a:ln/>
        </p:spPr>
        <p:txBody>
          <a:bodyPr wrap="square" lIns="0" tIns="0" rIns="0" bIns="0" rtlCol="0" anchor="t"/>
          <a:lstStyle/>
          <a:p>
            <a:pPr algn="l" indent="0" marL="0">
              <a:lnSpc>
                <a:spcPts val="1680"/>
              </a:lnSpc>
              <a:buNone/>
            </a:pPr>
            <a:r>
              <a:rPr lang="en-US" sz="1400" b="1" dirty="0">
                <a:solidFill>
                  <a:srgbClr val="39FF88"/>
                </a:solidFill>
                <a:latin typeface="IBM Plex Sans" pitchFamily="34" charset="0"/>
                <a:ea typeface="IBM Plex Sans" pitchFamily="34" charset="-122"/>
                <a:cs typeface="IBM Plex Sans" pitchFamily="34" charset="-120"/>
              </a:rPr>
              <a:t>Settings</a:t>
            </a:r>
            <a:endParaRPr lang="en-US" sz="1400" dirty="0"/>
          </a:p>
        </p:txBody>
      </p:sp>
      <p:sp>
        <p:nvSpPr>
          <p:cNvPr id="15" name="Text 13"/>
          <p:cNvSpPr/>
          <p:nvPr/>
        </p:nvSpPr>
        <p:spPr>
          <a:xfrm>
            <a:off x="1022347" y="4063791"/>
            <a:ext cx="3035292" cy="639959"/>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Time zone, work days and hours, reminder mode, limits, theme, notifications, JSON export and import.</a:t>
            </a:r>
            <a:endParaRPr lang="en-US" sz="1200" dirty="0"/>
          </a:p>
        </p:txBody>
      </p:sp>
      <p:sp>
        <p:nvSpPr>
          <p:cNvPr id="16" name="Shape 14"/>
          <p:cNvSpPr/>
          <p:nvPr/>
        </p:nvSpPr>
        <p:spPr>
          <a:xfrm>
            <a:off x="4394189" y="3555793"/>
            <a:ext cx="3403591" cy="1370208"/>
          </a:xfrm>
          <a:prstGeom prst="roundRect">
            <a:avLst>
              <a:gd name="adj" fmla="val 5561"/>
            </a:avLst>
          </a:prstGeom>
          <a:solidFill>
            <a:srgbClr val="111812"/>
          </a:solidFill>
          <a:ln w="9525">
            <a:solidFill>
              <a:srgbClr val="24402C"/>
            </a:solidFill>
            <a:prstDash val="solid"/>
          </a:ln>
        </p:spPr>
      </p:sp>
      <p:sp>
        <p:nvSpPr>
          <p:cNvPr id="17" name="Text 15"/>
          <p:cNvSpPr/>
          <p:nvPr/>
        </p:nvSpPr>
        <p:spPr>
          <a:xfrm>
            <a:off x="4603738" y="3765342"/>
            <a:ext cx="3035292" cy="234949"/>
          </a:xfrm>
          <a:prstGeom prst="rect">
            <a:avLst/>
          </a:prstGeom>
          <a:noFill/>
          <a:ln/>
        </p:spPr>
        <p:txBody>
          <a:bodyPr wrap="square" lIns="0" tIns="0" rIns="0" bIns="0" rtlCol="0" anchor="t"/>
          <a:lstStyle/>
          <a:p>
            <a:pPr algn="l" indent="0" marL="0">
              <a:lnSpc>
                <a:spcPts val="1680"/>
              </a:lnSpc>
              <a:buNone/>
            </a:pPr>
            <a:r>
              <a:rPr lang="en-US" sz="1400" b="1" dirty="0">
                <a:solidFill>
                  <a:srgbClr val="39FF88"/>
                </a:solidFill>
                <a:latin typeface="IBM Plex Sans" pitchFamily="34" charset="0"/>
                <a:ea typeface="IBM Plex Sans" pitchFamily="34" charset="-122"/>
                <a:cs typeface="IBM Plex Sans" pitchFamily="34" charset="-120"/>
              </a:rPr>
              <a:t>The theme</a:t>
            </a:r>
            <a:endParaRPr lang="en-US" sz="1400" dirty="0"/>
          </a:p>
        </p:txBody>
      </p:sp>
      <p:sp>
        <p:nvSpPr>
          <p:cNvPr id="18" name="Text 16"/>
          <p:cNvSpPr/>
          <p:nvPr/>
        </p:nvSpPr>
        <p:spPr>
          <a:xfrm>
            <a:off x="4603738" y="4063791"/>
            <a:ext cx="3035292" cy="639959"/>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Terminal look as colour tokens, light and dark, applied before first paint so nothing flashes.</a:t>
            </a:r>
            <a:endParaRPr lang="en-US" sz="1200" dirty="0"/>
          </a:p>
        </p:txBody>
      </p:sp>
      <p:sp>
        <p:nvSpPr>
          <p:cNvPr id="19" name="Shape 17"/>
          <p:cNvSpPr/>
          <p:nvPr/>
        </p:nvSpPr>
        <p:spPr>
          <a:xfrm>
            <a:off x="7975580" y="3555793"/>
            <a:ext cx="3403591" cy="1370208"/>
          </a:xfrm>
          <a:prstGeom prst="roundRect">
            <a:avLst>
              <a:gd name="adj" fmla="val 5561"/>
            </a:avLst>
          </a:prstGeom>
          <a:solidFill>
            <a:srgbClr val="16201A"/>
          </a:solidFill>
          <a:ln w="12700">
            <a:solidFill>
              <a:srgbClr val="39FF88"/>
            </a:solidFill>
            <a:prstDash val="solid"/>
          </a:ln>
        </p:spPr>
      </p:sp>
      <p:sp>
        <p:nvSpPr>
          <p:cNvPr id="20" name="Text 18"/>
          <p:cNvSpPr/>
          <p:nvPr/>
        </p:nvSpPr>
        <p:spPr>
          <a:xfrm>
            <a:off x="8191480" y="3771692"/>
            <a:ext cx="3022592" cy="234949"/>
          </a:xfrm>
          <a:prstGeom prst="rect">
            <a:avLst/>
          </a:prstGeom>
          <a:noFill/>
          <a:ln/>
        </p:spPr>
        <p:txBody>
          <a:bodyPr wrap="square" lIns="0" tIns="0" rIns="0" bIns="0" rtlCol="0" anchor="t"/>
          <a:lstStyle/>
          <a:p>
            <a:pPr algn="l" indent="0" marL="0">
              <a:lnSpc>
                <a:spcPts val="1680"/>
              </a:lnSpc>
              <a:buNone/>
            </a:pPr>
            <a:r>
              <a:rPr lang="en-US" sz="1400" b="1" dirty="0">
                <a:solidFill>
                  <a:srgbClr val="F4F6F1"/>
                </a:solidFill>
                <a:latin typeface="IBM Plex Sans" pitchFamily="34" charset="0"/>
                <a:ea typeface="IBM Plex Sans" pitchFamily="34" charset="-122"/>
                <a:cs typeface="IBM Plex Sans" pitchFamily="34" charset="-120"/>
              </a:rPr>
              <a:t>The timer</a:t>
            </a:r>
            <a:endParaRPr lang="en-US" sz="1400" dirty="0"/>
          </a:p>
        </p:txBody>
      </p:sp>
      <p:sp>
        <p:nvSpPr>
          <p:cNvPr id="21" name="Text 19"/>
          <p:cNvSpPr/>
          <p:nvPr/>
        </p:nvSpPr>
        <p:spPr>
          <a:xfrm>
            <a:off x="8191480" y="4070141"/>
            <a:ext cx="3022592" cy="639959"/>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Checks every minute and whenever the tab wakes; a system notification, or an in-page banner when blocked.</a:t>
            </a:r>
            <a:endParaRPr lang="en-US" sz="1200" dirty="0"/>
          </a:p>
        </p:txBody>
      </p:sp>
      <p:sp>
        <p:nvSpPr>
          <p:cNvPr id="22" name="Text 20"/>
          <p:cNvSpPr/>
          <p:nvPr/>
        </p:nvSpPr>
        <p:spPr>
          <a:xfrm>
            <a:off x="812798" y="6254734"/>
            <a:ext cx="10617173" cy="196850"/>
          </a:xfrm>
          <a:prstGeom prst="rect">
            <a:avLst/>
          </a:prstGeom>
          <a:noFill/>
          <a:ln/>
        </p:spPr>
        <p:txBody>
          <a:bodyPr wrap="square" lIns="0" tIns="0" rIns="0" bIns="0" rtlCol="0" anchor="t"/>
          <a:lstStyle/>
          <a:p>
            <a:pPr algn="l" indent="0" marL="0">
              <a:lnSpc>
                <a:spcPts val="1440"/>
              </a:lnSpc>
              <a:buNone/>
            </a:pPr>
            <a:r>
              <a:rPr lang="en-US" sz="1200" dirty="0">
                <a:solidFill>
                  <a:srgbClr val="86B394"/>
                </a:solidFill>
                <a:latin typeface="JetBrains Mono" pitchFamily="34" charset="0"/>
                <a:ea typeface="JetBrains Mono" pitchFamily="34" charset="-122"/>
                <a:cs typeface="JetBrains Mono" pitchFamily="34" charset="-120"/>
              </a:rPr>
              <a:t>part 2 · app building</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201A"/>
        </a:solidFill>
      </p:bgPr>
    </p:bg>
    <p:spTree>
      <p:nvGrpSpPr>
        <p:cNvPr id="1" name=""/>
        <p:cNvGrpSpPr/>
        <p:nvPr/>
      </p:nvGrpSpPr>
      <p:grpSpPr>
        <a:xfrm>
          <a:off x="0" y="0"/>
          <a:ext cx="0" cy="0"/>
          <a:chOff x="0" y="0"/>
          <a:chExt cx="0" cy="0"/>
        </a:xfrm>
      </p:grpSpPr>
      <p:sp>
        <p:nvSpPr>
          <p:cNvPr id="2" name="Text 0"/>
          <p:cNvSpPr/>
          <p:nvPr/>
        </p:nvSpPr>
        <p:spPr>
          <a:xfrm>
            <a:off x="812798" y="812798"/>
            <a:ext cx="10617173" cy="196850"/>
          </a:xfrm>
          <a:prstGeom prst="rect">
            <a:avLst/>
          </a:prstGeom>
          <a:noFill/>
          <a:ln/>
        </p:spPr>
        <p:txBody>
          <a:bodyPr wrap="square" lIns="0" tIns="0" rIns="0" bIns="0" rtlCol="0" anchor="t"/>
          <a:lstStyle/>
          <a:p>
            <a:pPr algn="l" indent="0" marL="0">
              <a:lnSpc>
                <a:spcPts val="1440"/>
              </a:lnSpc>
              <a:buNone/>
            </a:pPr>
            <a:r>
              <a:rPr lang="en-US" sz="1200" spc="100" kern="0" dirty="0">
                <a:solidFill>
                  <a:srgbClr val="39FF88"/>
                </a:solidFill>
                <a:latin typeface="JetBrains Mono" pitchFamily="34" charset="0"/>
                <a:ea typeface="JetBrains Mono" pitchFamily="34" charset="-122"/>
                <a:cs typeface="JetBrains Mono" pitchFamily="34" charset="-120"/>
              </a:rPr>
              <a:t>// THE BROWSER CHECK</a:t>
            </a:r>
            <a:endParaRPr lang="en-US" sz="1200" dirty="0"/>
          </a:p>
        </p:txBody>
      </p:sp>
      <p:sp>
        <p:nvSpPr>
          <p:cNvPr id="3" name="Text 1"/>
          <p:cNvSpPr/>
          <p:nvPr/>
        </p:nvSpPr>
        <p:spPr>
          <a:xfrm>
            <a:off x="812798" y="1263647"/>
            <a:ext cx="10617173" cy="1005679"/>
          </a:xfrm>
          <a:prstGeom prst="rect">
            <a:avLst/>
          </a:prstGeom>
          <a:noFill/>
          <a:ln/>
        </p:spPr>
        <p:txBody>
          <a:bodyPr wrap="square" lIns="0" tIns="0" rIns="0" bIns="0" rtlCol="0" anchor="t"/>
          <a:lstStyle/>
          <a:p>
            <a:pPr algn="l" indent="0" marL="0">
              <a:lnSpc>
                <a:spcPts val="3960"/>
              </a:lnSpc>
              <a:buNone/>
            </a:pPr>
            <a:r>
              <a:rPr lang="en-US" sz="3600" b="1" dirty="0">
                <a:solidFill>
                  <a:srgbClr val="39FF88"/>
                </a:solidFill>
                <a:latin typeface="JetBrains Mono" pitchFamily="34" charset="0"/>
                <a:ea typeface="JetBrains Mono" pitchFamily="34" charset="-122"/>
                <a:cs typeface="JetBrains Mono" pitchFamily="34" charset="-120"/>
              </a:rPr>
              <a:t>~$</a:t>
            </a:r>
            <a:pPr algn="l" indent="0" marL="0">
              <a:lnSpc>
                <a:spcPts val="3960"/>
              </a:lnSpc>
              <a:buNone/>
            </a:pPr>
            <a:r>
              <a:rPr lang="en-US" sz="3600" b="1" dirty="0">
                <a:solidFill>
                  <a:srgbClr val="F4F6F1"/>
                </a:solidFill>
                <a:latin typeface="JetBrains Mono" pitchFamily="34" charset="0"/>
                <a:ea typeface="JetBrains Mono" pitchFamily="34" charset="-122"/>
                <a:cs typeface="JetBrains Mono" pitchFamily="34" charset="-120"/>
              </a:rPr>
              <a:t> The browser found what the code review would not</a:t>
            </a:r>
            <a:endParaRPr lang="en-US" sz="3600" dirty="0"/>
          </a:p>
        </p:txBody>
      </p:sp>
      <p:sp>
        <p:nvSpPr>
          <p:cNvPr id="4" name="Text 2"/>
          <p:cNvSpPr/>
          <p:nvPr/>
        </p:nvSpPr>
        <p:spPr>
          <a:xfrm>
            <a:off x="812798" y="2523325"/>
            <a:ext cx="10617173" cy="533399"/>
          </a:xfrm>
          <a:prstGeom prst="rect">
            <a:avLst/>
          </a:prstGeom>
          <a:noFill/>
          <a:ln/>
        </p:spPr>
        <p:txBody>
          <a:bodyPr wrap="square" lIns="0" tIns="0" rIns="0" bIns="0" rtlCol="0" anchor="t"/>
          <a:lstStyle/>
          <a:p>
            <a:pPr algn="l" indent="0" marL="0">
              <a:lnSpc>
                <a:spcPts val="2100"/>
              </a:lnSpc>
              <a:buNone/>
            </a:pPr>
            <a:r>
              <a:rPr lang="en-US" sz="1500" dirty="0">
                <a:solidFill>
                  <a:srgbClr val="A9C9B3"/>
                </a:solidFill>
                <a:latin typeface="IBM Plex Sans" pitchFamily="34" charset="0"/>
                <a:ea typeface="IBM Plex Sans" pitchFamily="34" charset="-122"/>
                <a:cs typeface="IBM Plex Sans" pitchFamily="34" charset="-120"/>
              </a:rPr>
              <a:t>After the build, the session opened the app in the in-app browser and used it: logged drinks, pushed the total past the limit, collapsed the drawer, switched themes, opened every screen. Two things were wrong.</a:t>
            </a:r>
            <a:endParaRPr lang="en-US" sz="1500" dirty="0"/>
          </a:p>
        </p:txBody>
      </p:sp>
      <p:sp>
        <p:nvSpPr>
          <p:cNvPr id="5" name="Shape 3"/>
          <p:cNvSpPr/>
          <p:nvPr/>
        </p:nvSpPr>
        <p:spPr>
          <a:xfrm>
            <a:off x="812798" y="3310723"/>
            <a:ext cx="5181587" cy="1772737"/>
          </a:xfrm>
          <a:prstGeom prst="roundRect">
            <a:avLst>
              <a:gd name="adj" fmla="val 4298"/>
            </a:avLst>
          </a:prstGeom>
          <a:solidFill>
            <a:srgbClr val="111812"/>
          </a:solidFill>
          <a:ln w="12700">
            <a:solidFill>
              <a:srgbClr val="FFB000"/>
            </a:solidFill>
            <a:prstDash val="solid"/>
          </a:ln>
        </p:spPr>
      </p:sp>
      <p:sp>
        <p:nvSpPr>
          <p:cNvPr id="6" name="Text 4"/>
          <p:cNvSpPr/>
          <p:nvPr/>
        </p:nvSpPr>
        <p:spPr>
          <a:xfrm>
            <a:off x="1054097" y="3552022"/>
            <a:ext cx="4749788" cy="196850"/>
          </a:xfrm>
          <a:prstGeom prst="rect">
            <a:avLst/>
          </a:prstGeom>
          <a:noFill/>
          <a:ln/>
        </p:spPr>
        <p:txBody>
          <a:bodyPr wrap="square" lIns="0" tIns="0" rIns="0" bIns="0" rtlCol="0" anchor="t"/>
          <a:lstStyle/>
          <a:p>
            <a:pPr algn="l" indent="0" marL="0">
              <a:lnSpc>
                <a:spcPts val="1440"/>
              </a:lnSpc>
              <a:buNone/>
            </a:pPr>
            <a:r>
              <a:rPr lang="en-US" sz="1200" dirty="0">
                <a:solidFill>
                  <a:srgbClr val="FFB000"/>
                </a:solidFill>
                <a:latin typeface="JetBrains Mono" pitchFamily="34" charset="0"/>
                <a:ea typeface="JetBrains Mono" pitchFamily="34" charset="-122"/>
                <a:cs typeface="JetBrains Mono" pitchFamily="34" charset="-120"/>
              </a:rPr>
              <a:t>bug 1</a:t>
            </a:r>
            <a:endParaRPr lang="en-US" sz="1200" dirty="0"/>
          </a:p>
        </p:txBody>
      </p:sp>
      <p:sp>
        <p:nvSpPr>
          <p:cNvPr id="7" name="Text 5"/>
          <p:cNvSpPr/>
          <p:nvPr/>
        </p:nvSpPr>
        <p:spPr>
          <a:xfrm>
            <a:off x="1054097" y="3825072"/>
            <a:ext cx="4749788" cy="247649"/>
          </a:xfrm>
          <a:prstGeom prst="rect">
            <a:avLst/>
          </a:prstGeom>
          <a:noFill/>
          <a:ln/>
        </p:spPr>
        <p:txBody>
          <a:bodyPr wrap="square" lIns="0" tIns="0" rIns="0" bIns="0" rtlCol="0" anchor="t"/>
          <a:lstStyle/>
          <a:p>
            <a:pPr algn="l" indent="0" marL="0">
              <a:lnSpc>
                <a:spcPts val="1800"/>
              </a:lnSpc>
              <a:buNone/>
            </a:pPr>
            <a:r>
              <a:rPr lang="en-US" sz="1500" b="1" dirty="0">
                <a:solidFill>
                  <a:srgbClr val="F4F6F1"/>
                </a:solidFill>
                <a:latin typeface="IBM Plex Sans" pitchFamily="34" charset="0"/>
                <a:ea typeface="IBM Plex Sans" pitchFamily="34" charset="-122"/>
                <a:cs typeface="IBM Plex Sans" pitchFamily="34" charset="-120"/>
              </a:rPr>
              <a:t>The dialog opened without focus</a:t>
            </a:r>
            <a:endParaRPr lang="en-US" sz="1500" dirty="0"/>
          </a:p>
        </p:txBody>
      </p:sp>
      <p:sp>
        <p:nvSpPr>
          <p:cNvPr id="8" name="Text 6"/>
          <p:cNvSpPr/>
          <p:nvPr/>
        </p:nvSpPr>
        <p:spPr>
          <a:xfrm>
            <a:off x="1054097" y="4148921"/>
            <a:ext cx="4749788" cy="693240"/>
          </a:xfrm>
          <a:prstGeom prst="rect">
            <a:avLst/>
          </a:prstGeom>
          <a:noFill/>
          <a:ln/>
        </p:spPr>
        <p:txBody>
          <a:bodyPr wrap="square" lIns="0" tIns="0" rIns="0" bIns="0" rtlCol="0" anchor="t"/>
          <a:lstStyle/>
          <a:p>
            <a:pPr algn="l" indent="0" marL="0">
              <a:lnSpc>
                <a:spcPts val="1820"/>
              </a:lnSpc>
              <a:buNone/>
            </a:pPr>
            <a:r>
              <a:rPr lang="en-US" sz="1300" dirty="0">
                <a:solidFill>
                  <a:srgbClr val="A9C9B3"/>
                </a:solidFill>
                <a:latin typeface="IBM Plex Sans" pitchFamily="34" charset="0"/>
                <a:ea typeface="IBM Plex Sans" pitchFamily="34" charset="-122"/>
                <a:cs typeface="IBM Plex Sans" pitchFamily="34" charset="-120"/>
              </a:rPr>
              <a:t>The add-drink popup appeared, but the search box was not focused, so typing went nowhere. Invisible in the code; obvious the first time you use it.</a:t>
            </a:r>
            <a:endParaRPr lang="en-US" sz="1300" dirty="0"/>
          </a:p>
        </p:txBody>
      </p:sp>
      <p:sp>
        <p:nvSpPr>
          <p:cNvPr id="9" name="Shape 7"/>
          <p:cNvSpPr/>
          <p:nvPr/>
        </p:nvSpPr>
        <p:spPr>
          <a:xfrm>
            <a:off x="6197585" y="3310723"/>
            <a:ext cx="5181587" cy="1772737"/>
          </a:xfrm>
          <a:prstGeom prst="roundRect">
            <a:avLst>
              <a:gd name="adj" fmla="val 4298"/>
            </a:avLst>
          </a:prstGeom>
          <a:solidFill>
            <a:srgbClr val="111812"/>
          </a:solidFill>
          <a:ln w="12700">
            <a:solidFill>
              <a:srgbClr val="FFB000"/>
            </a:solidFill>
            <a:prstDash val="solid"/>
          </a:ln>
        </p:spPr>
      </p:sp>
      <p:sp>
        <p:nvSpPr>
          <p:cNvPr id="10" name="Text 8"/>
          <p:cNvSpPr/>
          <p:nvPr/>
        </p:nvSpPr>
        <p:spPr>
          <a:xfrm>
            <a:off x="6438884" y="3552022"/>
            <a:ext cx="4749788" cy="196850"/>
          </a:xfrm>
          <a:prstGeom prst="rect">
            <a:avLst/>
          </a:prstGeom>
          <a:noFill/>
          <a:ln/>
        </p:spPr>
        <p:txBody>
          <a:bodyPr wrap="square" lIns="0" tIns="0" rIns="0" bIns="0" rtlCol="0" anchor="t"/>
          <a:lstStyle/>
          <a:p>
            <a:pPr algn="l" indent="0" marL="0">
              <a:lnSpc>
                <a:spcPts val="1440"/>
              </a:lnSpc>
              <a:buNone/>
            </a:pPr>
            <a:r>
              <a:rPr lang="en-US" sz="1200" dirty="0">
                <a:solidFill>
                  <a:srgbClr val="FFB000"/>
                </a:solidFill>
                <a:latin typeface="JetBrains Mono" pitchFamily="34" charset="0"/>
                <a:ea typeface="JetBrains Mono" pitchFamily="34" charset="-122"/>
                <a:cs typeface="JetBrains Mono" pitchFamily="34" charset="-120"/>
              </a:rPr>
              <a:t>bug 2</a:t>
            </a:r>
            <a:endParaRPr lang="en-US" sz="1200" dirty="0"/>
          </a:p>
        </p:txBody>
      </p:sp>
      <p:sp>
        <p:nvSpPr>
          <p:cNvPr id="11" name="Text 9"/>
          <p:cNvSpPr/>
          <p:nvPr/>
        </p:nvSpPr>
        <p:spPr>
          <a:xfrm>
            <a:off x="6438884" y="3825072"/>
            <a:ext cx="4749788" cy="247649"/>
          </a:xfrm>
          <a:prstGeom prst="rect">
            <a:avLst/>
          </a:prstGeom>
          <a:noFill/>
          <a:ln/>
        </p:spPr>
        <p:txBody>
          <a:bodyPr wrap="square" lIns="0" tIns="0" rIns="0" bIns="0" rtlCol="0" anchor="t"/>
          <a:lstStyle/>
          <a:p>
            <a:pPr algn="l" indent="0" marL="0">
              <a:lnSpc>
                <a:spcPts val="1800"/>
              </a:lnSpc>
              <a:buNone/>
            </a:pPr>
            <a:r>
              <a:rPr lang="en-US" sz="1500" b="1" dirty="0">
                <a:solidFill>
                  <a:srgbClr val="F4F6F1"/>
                </a:solidFill>
                <a:latin typeface="IBM Plex Sans" pitchFamily="34" charset="0"/>
                <a:ea typeface="IBM Plex Sans" pitchFamily="34" charset="-122"/>
                <a:cs typeface="IBM Plex Sans" pitchFamily="34" charset="-120"/>
              </a:rPr>
              <a:t>A reminder promised after the limit</a:t>
            </a:r>
            <a:endParaRPr lang="en-US" sz="1500" dirty="0"/>
          </a:p>
        </p:txBody>
      </p:sp>
      <p:sp>
        <p:nvSpPr>
          <p:cNvPr id="12" name="Text 10"/>
          <p:cNvSpPr/>
          <p:nvPr/>
        </p:nvSpPr>
        <p:spPr>
          <a:xfrm>
            <a:off x="6438884" y="4148921"/>
            <a:ext cx="4749788" cy="693240"/>
          </a:xfrm>
          <a:prstGeom prst="rect">
            <a:avLst/>
          </a:prstGeom>
          <a:noFill/>
          <a:ln/>
        </p:spPr>
        <p:txBody>
          <a:bodyPr wrap="square" lIns="0" tIns="0" rIns="0" bIns="0" rtlCol="0" anchor="t"/>
          <a:lstStyle/>
          <a:p>
            <a:pPr algn="l" indent="0" marL="0">
              <a:lnSpc>
                <a:spcPts val="1820"/>
              </a:lnSpc>
              <a:buNone/>
            </a:pPr>
            <a:r>
              <a:rPr lang="en-US" sz="1300" dirty="0">
                <a:solidFill>
                  <a:srgbClr val="A9C9B3"/>
                </a:solidFill>
                <a:latin typeface="IBM Plex Sans" pitchFamily="34" charset="0"/>
                <a:ea typeface="IBM Plex Sans" pitchFamily="34" charset="-122"/>
                <a:cs typeface="IBM Plex Sans" pitchFamily="34" charset="-120"/>
              </a:rPr>
              <a:t>With the daily limit reached, the “next reminder” tile still showed a time. The rule said no more reminders; the tile had not been told.</a:t>
            </a:r>
            <a:endParaRPr lang="en-US" sz="1300" dirty="0"/>
          </a:p>
        </p:txBody>
      </p:sp>
      <p:sp>
        <p:nvSpPr>
          <p:cNvPr id="13" name="Text 11"/>
          <p:cNvSpPr/>
          <p:nvPr/>
        </p:nvSpPr>
        <p:spPr>
          <a:xfrm>
            <a:off x="812798" y="5337459"/>
            <a:ext cx="10617173" cy="248840"/>
          </a:xfrm>
          <a:prstGeom prst="rect">
            <a:avLst/>
          </a:prstGeom>
          <a:noFill/>
          <a:ln/>
        </p:spPr>
        <p:txBody>
          <a:bodyPr wrap="square" lIns="0" tIns="0" rIns="0" bIns="0" rtlCol="0" anchor="t"/>
          <a:lstStyle/>
          <a:p>
            <a:pPr algn="l" indent="0" marL="0">
              <a:lnSpc>
                <a:spcPts val="1960"/>
              </a:lnSpc>
              <a:buNone/>
            </a:pPr>
            <a:r>
              <a:rPr lang="en-US" sz="1400" dirty="0">
                <a:solidFill>
                  <a:srgbClr val="D7F5DD"/>
                </a:solidFill>
                <a:latin typeface="IBM Plex Sans" pitchFamily="34" charset="0"/>
                <a:ea typeface="IBM Plex Sans" pitchFamily="34" charset="-122"/>
                <a:cs typeface="IBM Plex Sans" pitchFamily="34" charset="-120"/>
              </a:rPr>
              <a:t>Both fixed in the same session, both now covered by a test in Part 3.</a:t>
            </a:r>
            <a:endParaRPr lang="en-US" sz="1400" dirty="0"/>
          </a:p>
        </p:txBody>
      </p:sp>
      <p:sp>
        <p:nvSpPr>
          <p:cNvPr id="14" name="Text 12"/>
          <p:cNvSpPr/>
          <p:nvPr/>
        </p:nvSpPr>
        <p:spPr>
          <a:xfrm>
            <a:off x="812798" y="6254734"/>
            <a:ext cx="10617173" cy="196850"/>
          </a:xfrm>
          <a:prstGeom prst="rect">
            <a:avLst/>
          </a:prstGeom>
          <a:noFill/>
          <a:ln/>
        </p:spPr>
        <p:txBody>
          <a:bodyPr wrap="square" lIns="0" tIns="0" rIns="0" bIns="0" rtlCol="0" anchor="t"/>
          <a:lstStyle/>
          <a:p>
            <a:pPr algn="l" indent="0" marL="0">
              <a:lnSpc>
                <a:spcPts val="1440"/>
              </a:lnSpc>
              <a:buNone/>
            </a:pPr>
            <a:r>
              <a:rPr lang="en-US" sz="1200" dirty="0">
                <a:solidFill>
                  <a:srgbClr val="86B394"/>
                </a:solidFill>
                <a:latin typeface="JetBrains Mono" pitchFamily="34" charset="0"/>
                <a:ea typeface="JetBrains Mono" pitchFamily="34" charset="-122"/>
                <a:cs typeface="JetBrains Mono" pitchFamily="34" charset="-120"/>
              </a:rPr>
              <a:t>part 2 · app building</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F0C"/>
        </a:solidFill>
      </p:bgPr>
    </p:bg>
    <p:spTree>
      <p:nvGrpSpPr>
        <p:cNvPr id="1" name=""/>
        <p:cNvGrpSpPr/>
        <p:nvPr/>
      </p:nvGrpSpPr>
      <p:grpSpPr>
        <a:xfrm>
          <a:off x="0" y="0"/>
          <a:ext cx="0" cy="0"/>
          <a:chOff x="0" y="0"/>
          <a:chExt cx="0" cy="0"/>
        </a:xfrm>
      </p:grpSpPr>
      <p:sp>
        <p:nvSpPr>
          <p:cNvPr id="2" name="Text 0"/>
          <p:cNvSpPr/>
          <p:nvPr/>
        </p:nvSpPr>
        <p:spPr>
          <a:xfrm>
            <a:off x="812798" y="812798"/>
            <a:ext cx="10617173" cy="196850"/>
          </a:xfrm>
          <a:prstGeom prst="rect">
            <a:avLst/>
          </a:prstGeom>
          <a:noFill/>
          <a:ln/>
        </p:spPr>
        <p:txBody>
          <a:bodyPr wrap="square" lIns="0" tIns="0" rIns="0" bIns="0" rtlCol="0" anchor="t"/>
          <a:lstStyle/>
          <a:p>
            <a:pPr algn="l" indent="0" marL="0">
              <a:lnSpc>
                <a:spcPts val="1440"/>
              </a:lnSpc>
              <a:buNone/>
            </a:pPr>
            <a:r>
              <a:rPr lang="en-US" sz="1200" spc="100" kern="0" dirty="0">
                <a:solidFill>
                  <a:srgbClr val="39FF88"/>
                </a:solidFill>
                <a:latin typeface="JetBrains Mono" pitchFamily="34" charset="0"/>
                <a:ea typeface="JetBrains Mono" pitchFamily="34" charset="-122"/>
                <a:cs typeface="JetBrains Mono" pitchFamily="34" charset="-120"/>
              </a:rPr>
              <a:t>// WHAT EXISTS AT THE END OF PART 2</a:t>
            </a:r>
            <a:endParaRPr lang="en-US" sz="1200" dirty="0"/>
          </a:p>
        </p:txBody>
      </p:sp>
      <p:sp>
        <p:nvSpPr>
          <p:cNvPr id="3" name="Text 1"/>
          <p:cNvSpPr/>
          <p:nvPr/>
        </p:nvSpPr>
        <p:spPr>
          <a:xfrm>
            <a:off x="812798" y="1263647"/>
            <a:ext cx="10617173" cy="502839"/>
          </a:xfrm>
          <a:prstGeom prst="rect">
            <a:avLst/>
          </a:prstGeom>
          <a:noFill/>
          <a:ln/>
        </p:spPr>
        <p:txBody>
          <a:bodyPr wrap="square" lIns="0" tIns="0" rIns="0" bIns="0" rtlCol="0" anchor="t"/>
          <a:lstStyle/>
          <a:p>
            <a:pPr algn="l" indent="0" marL="0">
              <a:lnSpc>
                <a:spcPts val="3960"/>
              </a:lnSpc>
              <a:buNone/>
            </a:pPr>
            <a:r>
              <a:rPr lang="en-US" sz="3600" b="1" dirty="0">
                <a:solidFill>
                  <a:srgbClr val="39FF88"/>
                </a:solidFill>
                <a:latin typeface="JetBrains Mono" pitchFamily="34" charset="0"/>
                <a:ea typeface="JetBrains Mono" pitchFamily="34" charset="-122"/>
                <a:cs typeface="JetBrains Mono" pitchFamily="34" charset="-120"/>
              </a:rPr>
              <a:t>~$</a:t>
            </a:r>
            <a:pPr algn="l" indent="0" marL="0">
              <a:lnSpc>
                <a:spcPts val="3960"/>
              </a:lnSpc>
              <a:buNone/>
            </a:pPr>
            <a:r>
              <a:rPr lang="en-US" sz="3600" b="1" dirty="0">
                <a:solidFill>
                  <a:srgbClr val="F4F6F1"/>
                </a:solidFill>
                <a:latin typeface="JetBrains Mono" pitchFamily="34" charset="0"/>
                <a:ea typeface="JetBrains Mono" pitchFamily="34" charset="-122"/>
                <a:cs typeface="JetBrains Mono" pitchFamily="34" charset="-120"/>
              </a:rPr>
              <a:t> Outputs, and the safety net</a:t>
            </a:r>
            <a:endParaRPr lang="en-US" sz="3600" dirty="0"/>
          </a:p>
        </p:txBody>
      </p:sp>
      <p:sp>
        <p:nvSpPr>
          <p:cNvPr id="4" name="Shape 2"/>
          <p:cNvSpPr/>
          <p:nvPr/>
        </p:nvSpPr>
        <p:spPr>
          <a:xfrm>
            <a:off x="812798" y="2020486"/>
            <a:ext cx="3382359" cy="2111767"/>
          </a:xfrm>
          <a:prstGeom prst="roundRect">
            <a:avLst>
              <a:gd name="adj" fmla="val 3608"/>
            </a:avLst>
          </a:prstGeom>
          <a:solidFill>
            <a:srgbClr val="111812"/>
          </a:solidFill>
          <a:ln w="9525">
            <a:solidFill>
              <a:srgbClr val="24402C"/>
            </a:solidFill>
            <a:prstDash val="solid"/>
          </a:ln>
        </p:spPr>
      </p:sp>
      <p:sp>
        <p:nvSpPr>
          <p:cNvPr id="5" name="Shape 3"/>
          <p:cNvSpPr/>
          <p:nvPr/>
        </p:nvSpPr>
        <p:spPr>
          <a:xfrm>
            <a:off x="1047747" y="2331635"/>
            <a:ext cx="152400" cy="152400"/>
          </a:xfrm>
          <a:prstGeom prst="roundRect">
            <a:avLst>
              <a:gd name="adj" fmla="val 25000"/>
            </a:avLst>
          </a:prstGeom>
          <a:solidFill>
            <a:srgbClr val="39FF88"/>
          </a:solidFill>
          <a:ln/>
        </p:spPr>
      </p:sp>
      <p:sp>
        <p:nvSpPr>
          <p:cNvPr id="6" name="Text 4"/>
          <p:cNvSpPr/>
          <p:nvPr/>
        </p:nvSpPr>
        <p:spPr>
          <a:xfrm>
            <a:off x="1047747" y="2636434"/>
            <a:ext cx="2963260" cy="247649"/>
          </a:xfrm>
          <a:prstGeom prst="rect">
            <a:avLst/>
          </a:prstGeom>
          <a:noFill/>
          <a:ln/>
        </p:spPr>
        <p:txBody>
          <a:bodyPr wrap="square" lIns="0" tIns="0" rIns="0" bIns="0" rtlCol="0" anchor="t"/>
          <a:lstStyle/>
          <a:p>
            <a:pPr algn="l" indent="0" marL="0">
              <a:lnSpc>
                <a:spcPts val="1800"/>
              </a:lnSpc>
              <a:buNone/>
            </a:pPr>
            <a:r>
              <a:rPr lang="en-US" sz="1500" b="1" dirty="0">
                <a:solidFill>
                  <a:srgbClr val="F4F6F1"/>
                </a:solidFill>
                <a:latin typeface="IBM Plex Sans" pitchFamily="34" charset="0"/>
                <a:ea typeface="IBM Plex Sans" pitchFamily="34" charset="-122"/>
                <a:cs typeface="IBM Plex Sans" pitchFamily="34" charset="-120"/>
              </a:rPr>
              <a:t>A working app</a:t>
            </a:r>
            <a:endParaRPr lang="en-US" sz="1500" dirty="0"/>
          </a:p>
        </p:txBody>
      </p:sp>
      <p:sp>
        <p:nvSpPr>
          <p:cNvPr id="7" name="Text 5"/>
          <p:cNvSpPr/>
          <p:nvPr/>
        </p:nvSpPr>
        <p:spPr>
          <a:xfrm>
            <a:off x="1047747" y="2960283"/>
            <a:ext cx="2963260" cy="693240"/>
          </a:xfrm>
          <a:prstGeom prst="rect">
            <a:avLst/>
          </a:prstGeom>
          <a:noFill/>
          <a:ln/>
        </p:spPr>
        <p:txBody>
          <a:bodyPr wrap="square" lIns="0" tIns="0" rIns="0" bIns="0" rtlCol="0" anchor="t"/>
          <a:lstStyle/>
          <a:p>
            <a:pPr algn="l" indent="0" marL="0">
              <a:lnSpc>
                <a:spcPts val="1820"/>
              </a:lnSpc>
              <a:buNone/>
            </a:pPr>
            <a:r>
              <a:rPr lang="en-US" sz="1300" dirty="0">
                <a:solidFill>
                  <a:srgbClr val="A9C9B3"/>
                </a:solidFill>
                <a:latin typeface="IBM Plex Sans" pitchFamily="34" charset="0"/>
                <a:ea typeface="IBM Plex Sans" pitchFamily="34" charset="-122"/>
                <a:cs typeface="IBM Plex Sans" pitchFamily="34" charset="-120"/>
              </a:rPr>
              <a:t>Start the dev server, open the address, add the demo flag for a reminder within a minute.</a:t>
            </a:r>
            <a:endParaRPr lang="en-US" sz="1300" dirty="0"/>
          </a:p>
        </p:txBody>
      </p:sp>
      <p:sp>
        <p:nvSpPr>
          <p:cNvPr id="8" name="Shape 6"/>
          <p:cNvSpPr/>
          <p:nvPr/>
        </p:nvSpPr>
        <p:spPr>
          <a:xfrm>
            <a:off x="4398356" y="2020486"/>
            <a:ext cx="3382458" cy="2111767"/>
          </a:xfrm>
          <a:prstGeom prst="roundRect">
            <a:avLst>
              <a:gd name="adj" fmla="val 3608"/>
            </a:avLst>
          </a:prstGeom>
          <a:solidFill>
            <a:srgbClr val="111812"/>
          </a:solidFill>
          <a:ln w="9525">
            <a:solidFill>
              <a:srgbClr val="24402C"/>
            </a:solidFill>
            <a:prstDash val="solid"/>
          </a:ln>
        </p:spPr>
      </p:sp>
      <p:sp>
        <p:nvSpPr>
          <p:cNvPr id="9" name="Shape 7"/>
          <p:cNvSpPr/>
          <p:nvPr/>
        </p:nvSpPr>
        <p:spPr>
          <a:xfrm>
            <a:off x="4633306" y="2331635"/>
            <a:ext cx="152400" cy="152400"/>
          </a:xfrm>
          <a:prstGeom prst="roundRect">
            <a:avLst>
              <a:gd name="adj" fmla="val 25000"/>
            </a:avLst>
          </a:prstGeom>
          <a:solidFill>
            <a:srgbClr val="39FF88"/>
          </a:solidFill>
          <a:ln/>
        </p:spPr>
      </p:sp>
      <p:sp>
        <p:nvSpPr>
          <p:cNvPr id="10" name="Text 8"/>
          <p:cNvSpPr/>
          <p:nvPr/>
        </p:nvSpPr>
        <p:spPr>
          <a:xfrm>
            <a:off x="4633306" y="2636434"/>
            <a:ext cx="2963359" cy="247649"/>
          </a:xfrm>
          <a:prstGeom prst="rect">
            <a:avLst/>
          </a:prstGeom>
          <a:noFill/>
          <a:ln/>
        </p:spPr>
        <p:txBody>
          <a:bodyPr wrap="square" lIns="0" tIns="0" rIns="0" bIns="0" rtlCol="0" anchor="t"/>
          <a:lstStyle/>
          <a:p>
            <a:pPr algn="l" indent="0" marL="0">
              <a:lnSpc>
                <a:spcPts val="1800"/>
              </a:lnSpc>
              <a:buNone/>
            </a:pPr>
            <a:r>
              <a:rPr lang="en-US" sz="1500" b="1" dirty="0">
                <a:solidFill>
                  <a:srgbClr val="F4F6F1"/>
                </a:solidFill>
                <a:latin typeface="IBM Plex Sans" pitchFamily="34" charset="0"/>
                <a:ea typeface="IBM Plex Sans" pitchFamily="34" charset="-122"/>
                <a:cs typeface="IBM Plex Sans" pitchFamily="34" charset="-120"/>
              </a:rPr>
              <a:t>Tests and a clean build</a:t>
            </a:r>
            <a:endParaRPr lang="en-US" sz="1500" dirty="0"/>
          </a:p>
        </p:txBody>
      </p:sp>
      <p:sp>
        <p:nvSpPr>
          <p:cNvPr id="11" name="Text 9"/>
          <p:cNvSpPr/>
          <p:nvPr/>
        </p:nvSpPr>
        <p:spPr>
          <a:xfrm>
            <a:off x="4633306" y="2960283"/>
            <a:ext cx="2963359" cy="924320"/>
          </a:xfrm>
          <a:prstGeom prst="rect">
            <a:avLst/>
          </a:prstGeom>
          <a:noFill/>
          <a:ln/>
        </p:spPr>
        <p:txBody>
          <a:bodyPr wrap="square" lIns="0" tIns="0" rIns="0" bIns="0" rtlCol="0" anchor="t"/>
          <a:lstStyle/>
          <a:p>
            <a:pPr algn="l" indent="0" marL="0">
              <a:lnSpc>
                <a:spcPts val="1820"/>
              </a:lnSpc>
              <a:buNone/>
            </a:pPr>
            <a:r>
              <a:rPr lang="en-US" sz="1300" dirty="0">
                <a:solidFill>
                  <a:srgbClr val="A9C9B3"/>
                </a:solidFill>
                <a:latin typeface="IBM Plex Sans" pitchFamily="34" charset="0"/>
                <a:ea typeface="IBM Plex Sans" pitchFamily="34" charset="-122"/>
                <a:cs typeface="IBM Plex Sans" pitchFamily="34" charset="-120"/>
              </a:rPr>
              <a:t>The rules package and both stores already have tests. The production build is clean before Part 3 adds a single test.</a:t>
            </a:r>
            <a:endParaRPr lang="en-US" sz="1300" dirty="0"/>
          </a:p>
        </p:txBody>
      </p:sp>
      <p:sp>
        <p:nvSpPr>
          <p:cNvPr id="12" name="Shape 10"/>
          <p:cNvSpPr/>
          <p:nvPr/>
        </p:nvSpPr>
        <p:spPr>
          <a:xfrm>
            <a:off x="7984014" y="2020486"/>
            <a:ext cx="3395158" cy="2111767"/>
          </a:xfrm>
          <a:prstGeom prst="roundRect">
            <a:avLst>
              <a:gd name="adj" fmla="val 3608"/>
            </a:avLst>
          </a:prstGeom>
          <a:solidFill>
            <a:srgbClr val="16201A"/>
          </a:solidFill>
          <a:ln w="12700">
            <a:solidFill>
              <a:srgbClr val="39FF88"/>
            </a:solidFill>
            <a:prstDash val="solid"/>
          </a:ln>
        </p:spPr>
      </p:sp>
      <p:sp>
        <p:nvSpPr>
          <p:cNvPr id="13" name="Shape 11"/>
          <p:cNvSpPr/>
          <p:nvPr/>
        </p:nvSpPr>
        <p:spPr>
          <a:xfrm>
            <a:off x="8225313" y="2337985"/>
            <a:ext cx="152400" cy="152400"/>
          </a:xfrm>
          <a:prstGeom prst="roundRect">
            <a:avLst>
              <a:gd name="adj" fmla="val 25000"/>
            </a:avLst>
          </a:prstGeom>
          <a:solidFill>
            <a:srgbClr val="39FF88"/>
          </a:solidFill>
          <a:ln/>
        </p:spPr>
      </p:sp>
      <p:sp>
        <p:nvSpPr>
          <p:cNvPr id="14" name="Text 12"/>
          <p:cNvSpPr/>
          <p:nvPr/>
        </p:nvSpPr>
        <p:spPr>
          <a:xfrm>
            <a:off x="8225313" y="2642784"/>
            <a:ext cx="2963359" cy="247649"/>
          </a:xfrm>
          <a:prstGeom prst="rect">
            <a:avLst/>
          </a:prstGeom>
          <a:noFill/>
          <a:ln/>
        </p:spPr>
        <p:txBody>
          <a:bodyPr wrap="square" lIns="0" tIns="0" rIns="0" bIns="0" rtlCol="0" anchor="t"/>
          <a:lstStyle/>
          <a:p>
            <a:pPr algn="l" indent="0" marL="0">
              <a:lnSpc>
                <a:spcPts val="1800"/>
              </a:lnSpc>
              <a:buNone/>
            </a:pPr>
            <a:r>
              <a:rPr lang="en-US" sz="1500" b="1" dirty="0">
                <a:solidFill>
                  <a:srgbClr val="F4F6F1"/>
                </a:solidFill>
                <a:latin typeface="IBM Plex Sans" pitchFamily="34" charset="0"/>
                <a:ea typeface="IBM Plex Sans" pitchFamily="34" charset="-122"/>
                <a:cs typeface="IBM Plex Sans" pitchFamily="34" charset="-120"/>
              </a:rPr>
              <a:t>A living architecture doc</a:t>
            </a:r>
            <a:endParaRPr lang="en-US" sz="1500" dirty="0"/>
          </a:p>
        </p:txBody>
      </p:sp>
      <p:sp>
        <p:nvSpPr>
          <p:cNvPr id="15" name="Text 13"/>
          <p:cNvSpPr/>
          <p:nvPr/>
        </p:nvSpPr>
        <p:spPr>
          <a:xfrm>
            <a:off x="8225313" y="2966633"/>
            <a:ext cx="2963359" cy="924320"/>
          </a:xfrm>
          <a:prstGeom prst="rect">
            <a:avLst/>
          </a:prstGeom>
          <a:noFill/>
          <a:ln/>
        </p:spPr>
        <p:txBody>
          <a:bodyPr wrap="square" lIns="0" tIns="0" rIns="0" bIns="0" rtlCol="0" anchor="t"/>
          <a:lstStyle/>
          <a:p>
            <a:pPr algn="l" indent="0" marL="0">
              <a:lnSpc>
                <a:spcPts val="1820"/>
              </a:lnSpc>
              <a:buNone/>
            </a:pPr>
            <a:r>
              <a:rPr lang="en-US" sz="1300" dirty="0">
                <a:solidFill>
                  <a:srgbClr val="A9C9B3"/>
                </a:solidFill>
                <a:latin typeface="IBM Plex Sans" pitchFamily="34" charset="0"/>
                <a:ea typeface="IBM Plex Sans" pitchFamily="34" charset="-122"/>
                <a:cs typeface="IBM Plex Sans" pitchFamily="34" charset="-120"/>
              </a:rPr>
              <a:t>Every design change the build made is listed under “changes since Part 1”, so the frozen original and the real app never silently diverge.</a:t>
            </a:r>
            <a:endParaRPr lang="en-US" sz="1300" dirty="0"/>
          </a:p>
        </p:txBody>
      </p:sp>
      <p:sp>
        <p:nvSpPr>
          <p:cNvPr id="16" name="Shape 14"/>
          <p:cNvSpPr/>
          <p:nvPr/>
        </p:nvSpPr>
        <p:spPr>
          <a:xfrm>
            <a:off x="812798" y="4386252"/>
            <a:ext cx="10566374" cy="667939"/>
          </a:xfrm>
          <a:prstGeom prst="roundRect">
            <a:avLst>
              <a:gd name="adj" fmla="val 11408"/>
            </a:avLst>
          </a:prstGeom>
          <a:solidFill>
            <a:srgbClr val="111812"/>
          </a:solidFill>
          <a:ln w="9525">
            <a:solidFill>
              <a:srgbClr val="24402C"/>
            </a:solidFill>
            <a:prstDash val="solid"/>
          </a:ln>
        </p:spPr>
      </p:sp>
      <p:sp>
        <p:nvSpPr>
          <p:cNvPr id="17" name="Text 15"/>
          <p:cNvSpPr/>
          <p:nvPr/>
        </p:nvSpPr>
        <p:spPr>
          <a:xfrm>
            <a:off x="1073147" y="4602746"/>
            <a:ext cx="690958" cy="234949"/>
          </a:xfrm>
          <a:prstGeom prst="rect">
            <a:avLst/>
          </a:prstGeom>
          <a:noFill/>
          <a:ln/>
        </p:spPr>
        <p:txBody>
          <a:bodyPr wrap="square" lIns="0" tIns="0" rIns="0" bIns="0" rtlCol="0" anchor="t"/>
          <a:lstStyle/>
          <a:p>
            <a:pPr algn="l" indent="0" marL="0">
              <a:lnSpc>
                <a:spcPts val="1680"/>
              </a:lnSpc>
              <a:buNone/>
            </a:pPr>
            <a:r>
              <a:rPr lang="en-US" sz="1400" dirty="0">
                <a:solidFill>
                  <a:srgbClr val="39FF88"/>
                </a:solidFill>
                <a:latin typeface="JetBrains Mono" pitchFamily="34" charset="0"/>
                <a:ea typeface="JetBrains Mono" pitchFamily="34" charset="-122"/>
                <a:cs typeface="JetBrains Mono" pitchFamily="34" charset="-120"/>
              </a:rPr>
              <a:t>next →</a:t>
            </a:r>
            <a:endParaRPr lang="en-US" sz="1400" dirty="0"/>
          </a:p>
        </p:txBody>
      </p:sp>
      <p:sp>
        <p:nvSpPr>
          <p:cNvPr id="18" name="Text 16"/>
          <p:cNvSpPr/>
          <p:nvPr/>
        </p:nvSpPr>
        <p:spPr>
          <a:xfrm>
            <a:off x="1865705" y="4595801"/>
            <a:ext cx="8143259" cy="248840"/>
          </a:xfrm>
          <a:prstGeom prst="rect">
            <a:avLst/>
          </a:prstGeom>
          <a:noFill/>
          <a:ln/>
        </p:spPr>
        <p:txBody>
          <a:bodyPr wrap="square" lIns="0" tIns="0" rIns="0" bIns="0" rtlCol="0" anchor="t"/>
          <a:lstStyle/>
          <a:p>
            <a:pPr algn="l" indent="0" marL="0">
              <a:lnSpc>
                <a:spcPts val="1960"/>
              </a:lnSpc>
              <a:buNone/>
            </a:pPr>
            <a:r>
              <a:rPr lang="en-US" sz="1400" dirty="0">
                <a:solidFill>
                  <a:srgbClr val="D7F5DD"/>
                </a:solidFill>
                <a:latin typeface="IBM Plex Sans" pitchFamily="34" charset="0"/>
                <a:ea typeface="IBM Plex Sans" pitchFamily="34" charset="-122"/>
                <a:cs typeface="IBM Plex Sans" pitchFamily="34" charset="-120"/>
              </a:rPr>
              <a:t>Part 3 clones this folder, adds three layers of tests, and plants a bug for the audience. Tag: part-2-app.</a:t>
            </a:r>
            <a:endParaRPr lang="en-US" sz="1400" dirty="0"/>
          </a:p>
        </p:txBody>
      </p:sp>
      <p:sp>
        <p:nvSpPr>
          <p:cNvPr id="19" name="Text 17"/>
          <p:cNvSpPr/>
          <p:nvPr/>
        </p:nvSpPr>
        <p:spPr>
          <a:xfrm>
            <a:off x="812798" y="6254734"/>
            <a:ext cx="10617173" cy="196850"/>
          </a:xfrm>
          <a:prstGeom prst="rect">
            <a:avLst/>
          </a:prstGeom>
          <a:noFill/>
          <a:ln/>
        </p:spPr>
        <p:txBody>
          <a:bodyPr wrap="square" lIns="0" tIns="0" rIns="0" bIns="0" rtlCol="0" anchor="t"/>
          <a:lstStyle/>
          <a:p>
            <a:pPr algn="l" indent="0" marL="0">
              <a:lnSpc>
                <a:spcPts val="1440"/>
              </a:lnSpc>
              <a:buNone/>
            </a:pPr>
            <a:r>
              <a:rPr lang="en-US" sz="1200" dirty="0">
                <a:solidFill>
                  <a:srgbClr val="86B394"/>
                </a:solidFill>
                <a:latin typeface="JetBrains Mono" pitchFamily="34" charset="0"/>
                <a:ea typeface="JetBrains Mono" pitchFamily="34" charset="-122"/>
                <a:cs typeface="JetBrains Mono" pitchFamily="34" charset="-120"/>
              </a:rPr>
              <a:t>part 2 · app building</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Levio Engineering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Part 2: App Building</dc:title>
  <dc:subject>PptxGenJS Presentation</dc:subject>
  <dc:creator>PptxGenJS</dc:creator>
  <cp:lastModifiedBy>PptxGenJS</cp:lastModifiedBy>
  <cp:revision>1</cp:revision>
  <dcterms:created xsi:type="dcterms:W3CDTF">2026-10-29T18:55:35Z</dcterms:created>
  <dcterms:modified xsi:type="dcterms:W3CDTF">2026-10-29T18:55:35Z</dcterms:modified>
</cp:coreProperties>
</file>